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6"/>
  </p:notesMasterIdLst>
  <p:sldIdLst>
    <p:sldId id="256" r:id="rId2"/>
    <p:sldId id="257" r:id="rId3"/>
    <p:sldId id="261" r:id="rId4"/>
    <p:sldId id="258" r:id="rId5"/>
    <p:sldId id="259" r:id="rId6"/>
    <p:sldId id="270" r:id="rId7"/>
    <p:sldId id="260" r:id="rId8"/>
    <p:sldId id="271" r:id="rId9"/>
    <p:sldId id="262" r:id="rId10"/>
    <p:sldId id="263" r:id="rId11"/>
    <p:sldId id="264" r:id="rId12"/>
    <p:sldId id="268" r:id="rId13"/>
    <p:sldId id="269" r:id="rId14"/>
    <p:sldId id="267" r:id="rId1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513" autoAdjust="0"/>
  </p:normalViewPr>
  <p:slideViewPr>
    <p:cSldViewPr>
      <p:cViewPr varScale="1">
        <p:scale>
          <a:sx n="78" d="100"/>
          <a:sy n="78" d="100"/>
        </p:scale>
        <p:origin x="-1290" y="-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15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B4DD35-6E11-43E5-91A4-D3C24AD61D59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96A064-7C2B-4BD1-B717-284E7E6AAF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960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(30</a:t>
            </a:r>
            <a:r>
              <a:rPr lang="en-US" baseline="0" dirty="0" smtClean="0"/>
              <a:t> seconds)</a:t>
            </a:r>
            <a:r>
              <a:rPr lang="en-US" dirty="0" smtClean="0"/>
              <a:t> Introduction – Marshall</a:t>
            </a:r>
            <a:r>
              <a:rPr lang="en-US" baseline="0" dirty="0" smtClean="0"/>
              <a:t> introduces the team, each person introduces themselves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50297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David Jarman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55921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Scope – 30</a:t>
            </a:r>
            <a:r>
              <a:rPr lang="en-US" baseline="0" dirty="0" smtClean="0"/>
              <a:t> seconds</a:t>
            </a:r>
          </a:p>
          <a:p>
            <a:r>
              <a:rPr lang="en-US" baseline="0" dirty="0" smtClean="0"/>
              <a:t>David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55921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User Stories</a:t>
            </a:r>
            <a:r>
              <a:rPr lang="en-US" baseline="0" dirty="0" smtClean="0"/>
              <a:t>: 1-2 minutes</a:t>
            </a:r>
            <a:endParaRPr lang="en-US" dirty="0" smtClean="0"/>
          </a:p>
          <a:p>
            <a:r>
              <a:rPr lang="en-US" dirty="0" smtClean="0"/>
              <a:t>Kevin</a:t>
            </a:r>
            <a:r>
              <a:rPr lang="en-US" baseline="0" dirty="0" smtClean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16840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Marshall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38795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David + Kevin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99718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David + Kevin</a:t>
            </a:r>
          </a:p>
          <a:p>
            <a:r>
              <a:rPr lang="en-US" dirty="0" smtClean="0"/>
              <a:t>Game</a:t>
            </a:r>
            <a:r>
              <a:rPr lang="en-US" baseline="0" dirty="0" smtClean="0"/>
              <a:t> Stats: for each game, show: total # played, total currently playing, date made (in)active, date imported</a:t>
            </a:r>
          </a:p>
          <a:p>
            <a:r>
              <a:rPr lang="en-US" baseline="0" dirty="0" smtClean="0"/>
              <a:t>Server Stats: </a:t>
            </a:r>
            <a:r>
              <a:rPr lang="en-US" baseline="0" dirty="0" smtClean="0"/>
              <a:t>Total uptime, Server version, total </a:t>
            </a:r>
            <a:r>
              <a:rPr lang="en-US" baseline="0" smtClean="0"/>
              <a:t>network traffic</a:t>
            </a:r>
            <a:endParaRPr lang="en-US" baseline="0" dirty="0" smtClean="0"/>
          </a:p>
          <a:p>
            <a:r>
              <a:rPr lang="en-US" baseline="0" dirty="0" smtClean="0"/>
              <a:t>Error Log:</a:t>
            </a:r>
          </a:p>
          <a:p>
            <a:r>
              <a:rPr lang="en-US" baseline="0" dirty="0" smtClean="0"/>
              <a:t>Import login: brings up a file dialog so admin can browse to and add a game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99718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David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7505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Marshall + Kevin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7313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Risks, risk analysis, mitigation and contingency plan  (2 min)</a:t>
            </a:r>
          </a:p>
          <a:p>
            <a:r>
              <a:rPr lang="en-US" dirty="0" smtClean="0"/>
              <a:t>David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4912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3457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Quickly</a:t>
            </a:r>
            <a:r>
              <a:rPr lang="en-US" baseline="0" dirty="0" smtClean="0"/>
              <a:t> show that we have a backlog, no need to go into great detail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6302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Questions  (5 </a:t>
            </a:r>
            <a:r>
              <a:rPr lang="en-US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mins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David,</a:t>
            </a:r>
            <a:r>
              <a:rPr 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Kevin, Marshall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462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Triangle 9"/>
          <p:cNvSpPr/>
          <p:nvPr/>
        </p:nvSpPr>
        <p:spPr>
          <a:xfrm>
            <a:off x="-2" y="4664147"/>
            <a:ext cx="9151089" cy="0"/>
          </a:xfrm>
          <a:prstGeom prst="rtTriangle">
            <a:avLst/>
          </a:prstGeom>
          <a:gradFill flip="none" rotWithShape="1">
            <a:gsLst>
              <a:gs pos="0">
                <a:schemeClr val="accent1">
                  <a:shade val="35000"/>
                  <a:satMod val="170000"/>
                  <a:alpha val="100000"/>
                </a:schemeClr>
              </a:gs>
              <a:gs pos="55000">
                <a:schemeClr val="accent1">
                  <a:tint val="90000"/>
                  <a:satMod val="150000"/>
                  <a:alpha val="100000"/>
                </a:schemeClr>
              </a:gs>
              <a:gs pos="100000">
                <a:schemeClr val="accent1">
                  <a:shade val="35000"/>
                  <a:satMod val="170000"/>
                  <a:alpha val="100000"/>
                </a:schemeClr>
              </a:gs>
            </a:gsLst>
            <a:lin ang="3000000" scaled="1"/>
            <a:tileRect/>
          </a:gradFill>
          <a:ln w="127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Title 8"/>
          <p:cNvSpPr>
            <a:spLocks noGrp="1"/>
          </p:cNvSpPr>
          <p:nvPr>
            <p:ph type="ctrTitle"/>
          </p:nvPr>
        </p:nvSpPr>
        <p:spPr>
          <a:xfrm>
            <a:off x="685800" y="1752601"/>
            <a:ext cx="7772400" cy="1829761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defRPr sz="4800" b="1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17" name="Subtitle 16"/>
          <p:cNvSpPr>
            <a:spLocks noGrp="1"/>
          </p:cNvSpPr>
          <p:nvPr>
            <p:ph type="subTitle" idx="1"/>
          </p:nvPr>
        </p:nvSpPr>
        <p:spPr>
          <a:xfrm>
            <a:off x="685800" y="3611607"/>
            <a:ext cx="7772400" cy="1199704"/>
          </a:xfrm>
        </p:spPr>
        <p:txBody>
          <a:bodyPr lIns="45720" rIns="45720"/>
          <a:lstStyle>
            <a:lvl1pPr marL="0" marR="64008" indent="0" algn="r">
              <a:buNone/>
              <a:defRPr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  <p:grpSp>
        <p:nvGrpSpPr>
          <p:cNvPr id="2" name="Group 1"/>
          <p:cNvGrpSpPr/>
          <p:nvPr/>
        </p:nvGrpSpPr>
        <p:grpSpPr>
          <a:xfrm>
            <a:off x="-3765" y="4953000"/>
            <a:ext cx="9147765" cy="1912088"/>
            <a:chOff x="-3765" y="4832896"/>
            <a:chExt cx="9147765" cy="2032192"/>
          </a:xfrm>
        </p:grpSpPr>
        <p:sp>
          <p:nvSpPr>
            <p:cNvPr id="7" name="Freeform 6"/>
            <p:cNvSpPr>
              <a:spLocks/>
            </p:cNvSpPr>
            <p:nvPr/>
          </p:nvSpPr>
          <p:spPr bwMode="auto">
            <a:xfrm>
              <a:off x="1687513" y="4832896"/>
              <a:ext cx="7456487" cy="518816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4697" y="0"/>
                </a:cxn>
                <a:cxn ang="0">
                  <a:pos x="4697" y="367"/>
                </a:cxn>
                <a:cxn ang="0">
                  <a:pos x="0" y="218"/>
                </a:cxn>
                <a:cxn ang="0">
                  <a:pos x="4697" y="0"/>
                </a:cxn>
              </a:cxnLst>
              <a:rect l="0" t="0" r="0" b="0"/>
              <a:pathLst>
                <a:path w="4697" h="367">
                  <a:moveTo>
                    <a:pt x="4697" y="0"/>
                  </a:moveTo>
                  <a:lnTo>
                    <a:pt x="4697" y="367"/>
                  </a:lnTo>
                  <a:lnTo>
                    <a:pt x="0" y="218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chemeClr val="accent1">
                <a:tint val="65000"/>
                <a:satMod val="115000"/>
                <a:alpha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/>
            </a:p>
          </p:txBody>
        </p:sp>
        <p:sp>
          <p:nvSpPr>
            <p:cNvPr id="8" name="Freeform 7"/>
            <p:cNvSpPr>
              <a:spLocks/>
            </p:cNvSpPr>
            <p:nvPr/>
          </p:nvSpPr>
          <p:spPr bwMode="auto">
            <a:xfrm>
              <a:off x="35443" y="5135526"/>
              <a:ext cx="9108557" cy="838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5760" y="0"/>
                </a:cxn>
                <a:cxn ang="0">
                  <a:pos x="5760" y="528"/>
                </a:cxn>
                <a:cxn ang="0">
                  <a:pos x="48" y="0"/>
                </a:cxn>
              </a:cxnLst>
              <a:rect l="0" t="0" r="0" b="0"/>
              <a:pathLst>
                <a:path w="5760" h="528">
                  <a:moveTo>
                    <a:pt x="0" y="0"/>
                  </a:moveTo>
                  <a:lnTo>
                    <a:pt x="5760" y="0"/>
                  </a:lnTo>
                  <a:lnTo>
                    <a:pt x="5760" y="528"/>
                  </a:lnTo>
                  <a:lnTo>
                    <a:pt x="48" y="0"/>
                  </a:lnTo>
                </a:path>
              </a:pathLst>
            </a:custGeom>
            <a:solidFill>
              <a:srgbClr val="000000">
                <a:alpha val="100000"/>
              </a:srgb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/>
            </a:p>
          </p:txBody>
        </p:sp>
        <p:sp>
          <p:nvSpPr>
            <p:cNvPr id="11" name="Freeform 10"/>
            <p:cNvSpPr>
              <a:spLocks/>
            </p:cNvSpPr>
            <p:nvPr/>
          </p:nvSpPr>
          <p:spPr bwMode="auto">
            <a:xfrm>
              <a:off x="0" y="4883888"/>
              <a:ext cx="9144000" cy="1981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0" y="1248"/>
                </a:cxn>
                <a:cxn ang="0">
                  <a:pos x="5760" y="1248"/>
                </a:cxn>
                <a:cxn ang="0">
                  <a:pos x="5760" y="528"/>
                </a:cxn>
                <a:cxn ang="0">
                  <a:pos x="0" y="0"/>
                </a:cxn>
              </a:cxnLst>
              <a:rect l="0" t="0" r="0" b="0"/>
              <a:pathLst>
                <a:path w="5760" h="1248">
                  <a:moveTo>
                    <a:pt x="0" y="0"/>
                  </a:moveTo>
                  <a:lnTo>
                    <a:pt x="0" y="1248"/>
                  </a:lnTo>
                  <a:lnTo>
                    <a:pt x="5760" y="1248"/>
                  </a:lnTo>
                  <a:lnTo>
                    <a:pt x="5760" y="5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</a:blip>
              <a:tile tx="0" ty="0" sx="50000" sy="50000" flip="none" algn="t"/>
            </a:blipFill>
            <a:ln w="12700" cap="rnd" cmpd="thickThin" algn="ctr">
              <a:noFill/>
              <a:prstDash val="solid"/>
            </a:ln>
            <a:effectLst>
              <a:fillOverlay blend="mult">
                <a:gradFill flip="none" rotWithShape="1">
                  <a:gsLst>
                    <a:gs pos="0">
                      <a:schemeClr val="accent1">
                        <a:shade val="20000"/>
                        <a:satMod val="176000"/>
                        <a:alpha val="100000"/>
                      </a:schemeClr>
                    </a:gs>
                    <a:gs pos="18000">
                      <a:schemeClr val="accent1">
                        <a:shade val="48000"/>
                        <a:satMod val="153000"/>
                        <a:alpha val="100000"/>
                      </a:schemeClr>
                    </a:gs>
                    <a:gs pos="43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45000">
                      <a:schemeClr val="accent1">
                        <a:tint val="85000"/>
                        <a:satMod val="150000"/>
                        <a:alpha val="100000"/>
                      </a:schemeClr>
                    </a:gs>
                    <a:gs pos="50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79000">
                      <a:schemeClr val="accent1">
                        <a:shade val="53000"/>
                        <a:satMod val="150000"/>
                        <a:alpha val="100000"/>
                      </a:schemeClr>
                    </a:gs>
                    <a:gs pos="100000">
                      <a:schemeClr val="accent1">
                        <a:shade val="25000"/>
                        <a:satMod val="170000"/>
                        <a:alpha val="100000"/>
                      </a:schemeClr>
                    </a:gs>
                  </a:gsLst>
                  <a:lin ang="450000" scaled="1"/>
                  <a:tileRect/>
                </a:gradFill>
              </a:fillOverlay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anchor="ctr" compatLnSpc="1"/>
            <a:lstStyle>
              <a:extLst/>
            </a:lstStyle>
            <a:p>
              <a:pPr algn="ctr" eaLnBrk="1" latinLnBrk="0" hangingPunct="1"/>
              <a:endParaRPr kumimoji="0" lang="en-US"/>
            </a:p>
          </p:txBody>
        </p:sp>
        <p:cxnSp>
          <p:nvCxnSpPr>
            <p:cNvPr id="12" name="Straight Connector 11"/>
            <p:cNvCxnSpPr/>
            <p:nvPr/>
          </p:nvCxnSpPr>
          <p:spPr>
            <a:xfrm>
              <a:off x="-3765" y="4880373"/>
              <a:ext cx="9147765" cy="839943"/>
            </a:xfrm>
            <a:prstGeom prst="line">
              <a:avLst/>
            </a:prstGeom>
            <a:noFill/>
            <a:ln w="12065" cap="flat" cmpd="sng" algn="ctr">
              <a:gradFill>
                <a:gsLst>
                  <a:gs pos="45000">
                    <a:schemeClr val="accent1">
                      <a:tint val="70000"/>
                      <a:satMod val="110000"/>
                    </a:schemeClr>
                  </a:gs>
                  <a:gs pos="15000">
                    <a:schemeClr val="accent1">
                      <a:shade val="40000"/>
                      <a:satMod val="110000"/>
                    </a:scheme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Date Placeholder 2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19" name="Footer Placeholder 1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tint val="20000"/>
                  </a:schemeClr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27" name="Slide Number Placeholder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76" y="1059712"/>
            <a:ext cx="7772400" cy="1828800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buNone/>
              <a:defRPr sz="4800" b="1" cap="none" baseline="0"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2713" y="2931712"/>
            <a:ext cx="4572000" cy="1454888"/>
          </a:xfrm>
        </p:spPr>
        <p:txBody>
          <a:bodyPr lIns="91440" rIns="91440" anchor="t"/>
          <a:lstStyle>
            <a:lvl1pPr marL="0" indent="0" algn="l">
              <a:buNone/>
              <a:defRPr sz="23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hevron 6"/>
          <p:cNvSpPr/>
          <p:nvPr/>
        </p:nvSpPr>
        <p:spPr>
          <a:xfrm>
            <a:off x="3636680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  <p:sp>
        <p:nvSpPr>
          <p:cNvPr id="8" name="Chevron 7"/>
          <p:cNvSpPr/>
          <p:nvPr/>
        </p:nvSpPr>
        <p:spPr>
          <a:xfrm>
            <a:off x="3450264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29600" cy="1143000"/>
          </a:xfrm>
        </p:spPr>
        <p:txBody>
          <a:bodyPr anchor="ctr"/>
          <a:lstStyle>
            <a:lvl1pPr>
              <a:defRPr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5410200"/>
            <a:ext cx="4040188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5026" y="5410200"/>
            <a:ext cx="4041775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457200" y="1444294"/>
            <a:ext cx="4040188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44294"/>
            <a:ext cx="4041775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spcBef>
                <a:spcPts val="0"/>
              </a:spcBef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876800"/>
            <a:ext cx="7481776" cy="457200"/>
          </a:xfrm>
        </p:spPr>
        <p:txBody>
          <a:bodyPr vert="horz" anchor="t">
            <a:noAutofit/>
            <a:sp3d prstMaterial="softEdge">
              <a:bevelT w="0" h="0"/>
            </a:sp3d>
          </a:bodyPr>
          <a:lstStyle>
            <a:lvl1pPr algn="r">
              <a:buNone/>
              <a:defRPr sz="2500" b="0">
                <a:solidFill>
                  <a:schemeClr val="accent1"/>
                </a:solidFill>
                <a:effectLst/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4419600" y="5355102"/>
            <a:ext cx="3974592" cy="914400"/>
          </a:xfrm>
        </p:spPr>
        <p:txBody>
          <a:bodyPr/>
          <a:lstStyle>
            <a:lvl1pPr marL="0" indent="0" algn="r">
              <a:buNone/>
              <a:defRPr sz="16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914400" y="274320"/>
            <a:ext cx="7479792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727032" y="6407944"/>
            <a:ext cx="1920240" cy="365760"/>
          </a:xfrm>
        </p:spPr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232" y="5443402"/>
            <a:ext cx="7162800" cy="648232"/>
          </a:xfrm>
          <a:noFill/>
        </p:spPr>
        <p:txBody>
          <a:bodyPr lIns="91440" tIns="0" rIns="91440" anchor="t"/>
          <a:lstStyle>
            <a:lvl1pPr marL="0" marR="18288" indent="0" algn="r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28600" y="189968"/>
            <a:ext cx="8686800" cy="438912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innerShdw blurRad="95250">
              <a:srgbClr val="000000"/>
            </a:innerShdw>
          </a:effectLst>
        </p:spPr>
        <p:txBody>
          <a:bodyPr/>
          <a:lstStyle>
            <a:lvl1pPr marL="0" indent="0">
              <a:buNone/>
              <a:defRPr sz="3200"/>
            </a:lvl1pPr>
            <a:extLst/>
          </a:lstStyle>
          <a:p>
            <a:r>
              <a:rPr kumimoji="0" lang="en-US" smtClean="0"/>
              <a:t>Click icon to add picture</a:t>
            </a:r>
            <a:endParaRPr kumimoji="0"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380072" y="6407944"/>
            <a:ext cx="2350681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4865122"/>
            <a:ext cx="8075432" cy="562672"/>
          </a:xfrm>
          <a:noFill/>
        </p:spPr>
        <p:txBody>
          <a:bodyPr anchor="t">
            <a:sp3d prstMaterial="softEdge"/>
          </a:bodyPr>
          <a:lstStyle>
            <a:lvl1pPr marR="0" algn="r">
              <a:buNone/>
              <a:defRPr sz="3000" b="0">
                <a:solidFill>
                  <a:schemeClr val="accent1"/>
                </a:solidFill>
                <a:effectLst>
                  <a:outerShdw blurRad="50800" dist="25000" dir="5400000" algn="t" rotWithShape="0">
                    <a:prstClr val="black">
                      <a:alpha val="45000"/>
                    </a:prst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8" name="Freeform 7"/>
          <p:cNvSpPr>
            <a:spLocks/>
          </p:cNvSpPr>
          <p:nvPr/>
        </p:nvSpPr>
        <p:spPr bwMode="auto">
          <a:xfrm>
            <a:off x="499273" y="5944936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9" name="Freeform 8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0" name="Right Triangle 9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2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cxnSp>
        <p:nvCxnSpPr>
          <p:cNvPr id="11" name="Straight Connector 10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hevron 11"/>
          <p:cNvSpPr/>
          <p:nvPr/>
        </p:nvSpPr>
        <p:spPr>
          <a:xfrm>
            <a:off x="8664112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  <p:sp>
        <p:nvSpPr>
          <p:cNvPr id="13" name="Chevron 12"/>
          <p:cNvSpPr/>
          <p:nvPr/>
        </p:nvSpPr>
        <p:spPr>
          <a:xfrm>
            <a:off x="8477696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481329"/>
            <a:ext cx="8229600" cy="4386071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44013" y="274640"/>
            <a:ext cx="1777470" cy="5592761"/>
          </a:xfrm>
        </p:spPr>
        <p:txBody>
          <a:bodyPr vert="eaVert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41"/>
            <a:ext cx="6324600" cy="5592760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/>
          <p:cNvSpPr>
            <a:spLocks/>
          </p:cNvSpPr>
          <p:nvPr/>
        </p:nvSpPr>
        <p:spPr bwMode="auto">
          <a:xfrm>
            <a:off x="499273" y="5944936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2" name="Freeform 11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4" name="Right Triangle 13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13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itle Placeholder 8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0" name="Text Placeholder 29"/>
          <p:cNvSpPr>
            <a:spLocks noGrp="1"/>
          </p:cNvSpPr>
          <p:nvPr>
            <p:ph type="body" idx="1"/>
          </p:nvPr>
        </p:nvSpPr>
        <p:spPr>
          <a:xfrm>
            <a:off x="457200" y="1481328"/>
            <a:ext cx="8229600" cy="4525963"/>
          </a:xfrm>
          <a:prstGeom prst="rect">
            <a:avLst/>
          </a:prstGeom>
        </p:spPr>
        <p:txBody>
          <a:bodyPr vert="horz">
            <a:normAutofit/>
          </a:bodyPr>
          <a:lstStyle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2"/>
          </p:nvPr>
        </p:nvSpPr>
        <p:spPr>
          <a:xfrm>
            <a:off x="6727032" y="6407944"/>
            <a:ext cx="1920240" cy="365760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3"/>
          </p:nvPr>
        </p:nvSpPr>
        <p:spPr>
          <a:xfrm>
            <a:off x="4380072" y="6407944"/>
            <a:ext cx="2350681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8647272" y="6407944"/>
            <a:ext cx="365760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 b="0">
                <a:solidFill>
                  <a:schemeClr val="tx1"/>
                </a:solidFill>
              </a:defRPr>
            </a:lvl1pPr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rtl="0" eaLnBrk="1" latinLnBrk="0" hangingPunct="1">
        <a:spcBef>
          <a:spcPct val="0"/>
        </a:spcBef>
        <a:buNone/>
        <a:defRPr kumimoji="0" sz="4100" b="1" kern="1200">
          <a:solidFill>
            <a:schemeClr val="tx2"/>
          </a:solidFill>
          <a:effectLst>
            <a:outerShdw blurRad="31750" dist="254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56032" algn="l" rtl="0" eaLnBrk="1" latinLnBrk="0" hangingPunct="1">
        <a:spcBef>
          <a:spcPts val="400"/>
        </a:spcBef>
        <a:spcAft>
          <a:spcPts val="0"/>
        </a:spcAft>
        <a:buClr>
          <a:schemeClr val="accent1"/>
        </a:buClr>
        <a:buSzPct val="68000"/>
        <a:buFont typeface="Wingdings 3"/>
        <a:buChar char="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21792" indent="-228600" algn="l" rtl="0" eaLnBrk="1" latinLnBrk="0" hangingPunct="1">
        <a:spcBef>
          <a:spcPts val="324"/>
        </a:spcBef>
        <a:buClr>
          <a:schemeClr val="accent1"/>
        </a:buClr>
        <a:buFont typeface="Verdana"/>
        <a:buChar char="◦"/>
        <a:defRPr kumimoji="0"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859536" indent="-228600" algn="l" rtl="0" eaLnBrk="1" latinLnBrk="0" hangingPunct="1">
        <a:spcBef>
          <a:spcPts val="350"/>
        </a:spcBef>
        <a:buClr>
          <a:schemeClr val="accent2"/>
        </a:buClr>
        <a:buSzPct val="100000"/>
        <a:buFont typeface="Wingdings 2"/>
        <a:buChar char="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574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5" Type="http://schemas.openxmlformats.org/officeDocument/2006/relationships/image" Target="../media/image2.emf"/><Relationship Id="rId4" Type="http://schemas.openxmlformats.org/officeDocument/2006/relationships/package" Target="../embeddings/Microsoft_Excel_Worksheet1.xlsx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0775"/>
            <a:ext cx="7772400" cy="1470025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Set Top Box</a:t>
            </a:r>
            <a:br>
              <a:rPr lang="en-US" dirty="0" smtClean="0"/>
            </a:br>
            <a:r>
              <a:rPr lang="en-US" dirty="0" smtClean="0"/>
              <a:t>Multiplayer Framework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581400"/>
            <a:ext cx="6934200" cy="2057400"/>
          </a:xfrm>
        </p:spPr>
        <p:txBody>
          <a:bodyPr/>
          <a:lstStyle/>
          <a:p>
            <a:r>
              <a:rPr lang="en-US" dirty="0" smtClean="0"/>
              <a:t>Team: Plugged-In</a:t>
            </a:r>
          </a:p>
          <a:p>
            <a:endParaRPr lang="en-US" dirty="0" smtClean="0"/>
          </a:p>
          <a:p>
            <a:r>
              <a:rPr lang="en-US" dirty="0" smtClean="0"/>
              <a:t>Sponsored by: Innovative Systems, L.L.C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21803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Create a server to host multiplayer game plugins</a:t>
            </a:r>
          </a:p>
          <a:p>
            <a:r>
              <a:rPr lang="en-US" dirty="0" smtClean="0"/>
              <a:t>Design a template game UI for STBs in an APMax environment</a:t>
            </a:r>
            <a:endParaRPr lang="en-US" dirty="0"/>
          </a:p>
          <a:p>
            <a:r>
              <a:rPr lang="en-US" dirty="0" smtClean="0"/>
              <a:t>Build a virtual APMax to simulate future communication protocols.</a:t>
            </a:r>
          </a:p>
          <a:p>
            <a:r>
              <a:rPr lang="en-US" dirty="0" smtClean="0"/>
              <a:t>Convert games to proof-of-concept multiplayer games.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Brief Overview and Project Goals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79680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Proof-of-concept</a:t>
            </a:r>
          </a:p>
          <a:p>
            <a:r>
              <a:rPr lang="en-US" dirty="0" smtClean="0"/>
              <a:t>In house</a:t>
            </a:r>
          </a:p>
          <a:p>
            <a:pPr lvl="1"/>
            <a:r>
              <a:rPr lang="en-US" dirty="0" smtClean="0"/>
              <a:t>Server and games environment will be privately hosted during development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Scope of Project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75581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No STB software changes after initial release</a:t>
            </a:r>
          </a:p>
          <a:p>
            <a:r>
              <a:rPr lang="en-US" dirty="0" smtClean="0"/>
              <a:t>Client server architecture to host and deliver “plug-in” games</a:t>
            </a:r>
          </a:p>
          <a:p>
            <a:r>
              <a:rPr lang="en-US" dirty="0" smtClean="0"/>
              <a:t>Player vs. Player, Player vs. AI, </a:t>
            </a:r>
            <a:r>
              <a:rPr lang="en-US" dirty="0"/>
              <a:t>S</a:t>
            </a:r>
            <a:r>
              <a:rPr lang="en-US" dirty="0" smtClean="0"/>
              <a:t>ingle Player</a:t>
            </a:r>
          </a:p>
          <a:p>
            <a:r>
              <a:rPr lang="en-US" dirty="0" smtClean="0"/>
              <a:t>Server hosts game logic, STB host game UI</a:t>
            </a:r>
          </a:p>
          <a:p>
            <a:r>
              <a:rPr lang="en-US" dirty="0" smtClean="0"/>
              <a:t>Support 100s-1000s of users</a:t>
            </a:r>
          </a:p>
          <a:p>
            <a:r>
              <a:rPr lang="en-US" dirty="0" smtClean="0"/>
              <a:t>Secure communication between server and clients</a:t>
            </a:r>
          </a:p>
          <a:p>
            <a:r>
              <a:rPr lang="en-US" dirty="0" smtClean="0"/>
              <a:t>Full unit testing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User Stories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53483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Design Analysis – STB (client)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pPr algn="ctr"/>
            <a:endParaRPr lang="en-US" dirty="0" smtClean="0"/>
          </a:p>
          <a:p>
            <a:pPr algn="ctr"/>
            <a:r>
              <a:rPr lang="en-US" dirty="0" smtClean="0"/>
              <a:t>Design #</a:t>
            </a:r>
            <a:r>
              <a:rPr lang="en-US" dirty="0"/>
              <a:t>1</a:t>
            </a:r>
          </a:p>
          <a:p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half" idx="3"/>
          </p:nvPr>
        </p:nvSpPr>
        <p:spPr/>
        <p:txBody>
          <a:bodyPr>
            <a:normAutofit fontScale="92500" lnSpcReduction="10000"/>
          </a:bodyPr>
          <a:lstStyle/>
          <a:p>
            <a:pPr algn="ctr"/>
            <a:endParaRPr lang="en-US" dirty="0" smtClean="0"/>
          </a:p>
          <a:p>
            <a:pPr algn="ctr"/>
            <a:r>
              <a:rPr lang="en-US" dirty="0" smtClean="0"/>
              <a:t>Design </a:t>
            </a:r>
            <a:r>
              <a:rPr lang="en-US" dirty="0"/>
              <a:t>#2</a:t>
            </a:r>
          </a:p>
          <a:p>
            <a:endParaRPr lang="en-US" dirty="0"/>
          </a:p>
        </p:txBody>
      </p:sp>
      <p:sp>
        <p:nvSpPr>
          <p:cNvPr id="2" name="Content Placeholder 1"/>
          <p:cNvSpPr>
            <a:spLocks noGrp="1"/>
          </p:cNvSpPr>
          <p:nvPr>
            <p:ph sz="quarter" idx="2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Base game framework</a:t>
            </a:r>
          </a:p>
          <a:p>
            <a:pPr lvl="1"/>
            <a:r>
              <a:rPr lang="en-US" dirty="0" smtClean="0"/>
              <a:t>Communications</a:t>
            </a:r>
          </a:p>
          <a:p>
            <a:pPr lvl="2"/>
            <a:r>
              <a:rPr lang="en-US" dirty="0" smtClean="0"/>
              <a:t>Command Link</a:t>
            </a:r>
          </a:p>
          <a:p>
            <a:pPr lvl="2"/>
            <a:r>
              <a:rPr lang="en-US" dirty="0" smtClean="0"/>
              <a:t>Protocol Buffers</a:t>
            </a:r>
          </a:p>
          <a:p>
            <a:pPr lvl="1"/>
            <a:r>
              <a:rPr lang="en-US" dirty="0" smtClean="0"/>
              <a:t>Debug Log</a:t>
            </a:r>
          </a:p>
          <a:p>
            <a:pPr lvl="1"/>
            <a:r>
              <a:rPr lang="en-US" dirty="0" smtClean="0"/>
              <a:t>Two game UI engines</a:t>
            </a:r>
          </a:p>
          <a:p>
            <a:pPr lvl="2"/>
            <a:r>
              <a:rPr lang="en-US" dirty="0" smtClean="0"/>
              <a:t>Board games UI</a:t>
            </a:r>
          </a:p>
          <a:p>
            <a:pPr lvl="2"/>
            <a:r>
              <a:rPr lang="en-US" dirty="0" smtClean="0"/>
              <a:t>Card games UI</a:t>
            </a:r>
          </a:p>
          <a:p>
            <a:pPr lvl="1"/>
            <a:r>
              <a:rPr lang="en-US" dirty="0" smtClean="0"/>
              <a:t>Games implemented using C#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 smtClean="0"/>
              <a:t>Individual </a:t>
            </a:r>
            <a:r>
              <a:rPr lang="en-US" dirty="0"/>
              <a:t>game framework</a:t>
            </a:r>
          </a:p>
          <a:p>
            <a:pPr lvl="1"/>
            <a:r>
              <a:rPr lang="en-US" dirty="0"/>
              <a:t>Each game contains its own UI engine</a:t>
            </a:r>
          </a:p>
          <a:p>
            <a:pPr lvl="1"/>
            <a:r>
              <a:rPr lang="en-US" dirty="0"/>
              <a:t>Games use </a:t>
            </a:r>
            <a:r>
              <a:rPr lang="en-US" dirty="0" smtClean="0"/>
              <a:t>same communications as Implementation #1</a:t>
            </a:r>
          </a:p>
          <a:p>
            <a:pPr lvl="1"/>
            <a:r>
              <a:rPr lang="en-US" dirty="0" smtClean="0"/>
              <a:t>Game continued to be created with current environment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44396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Decision Matrix</a:t>
            </a:r>
            <a:endParaRPr lang="en-US" dirty="0"/>
          </a:p>
        </p:txBody>
      </p:sp>
      <p:sp>
        <p:nvSpPr>
          <p:cNvPr id="16" name="Content Placeholder 15"/>
          <p:cNvSpPr>
            <a:spLocks noGrp="1"/>
          </p:cNvSpPr>
          <p:nvPr>
            <p:ph idx="1"/>
          </p:nvPr>
        </p:nvSpPr>
        <p:spPr>
          <a:xfrm>
            <a:off x="457200" y="1481328"/>
            <a:ext cx="8229600" cy="2633471"/>
          </a:xfrm>
        </p:spPr>
        <p:txBody>
          <a:bodyPr>
            <a:normAutofit fontScale="70000" lnSpcReduction="20000"/>
          </a:bodyPr>
          <a:lstStyle/>
          <a:p>
            <a:r>
              <a:rPr lang="en-US" dirty="0" smtClean="0"/>
              <a:t>Single </a:t>
            </a:r>
            <a:r>
              <a:rPr lang="en-US" dirty="0"/>
              <a:t>UI Engine</a:t>
            </a:r>
          </a:p>
          <a:p>
            <a:pPr lvl="1"/>
            <a:r>
              <a:rPr lang="en-US" dirty="0" smtClean="0"/>
              <a:t>No binaries sent over the network</a:t>
            </a:r>
            <a:endParaRPr lang="en-US" dirty="0"/>
          </a:p>
          <a:p>
            <a:pPr lvl="1"/>
            <a:r>
              <a:rPr lang="en-US" dirty="0"/>
              <a:t>Slightly less stable, since it is generic</a:t>
            </a:r>
          </a:p>
          <a:p>
            <a:pPr lvl="1"/>
            <a:r>
              <a:rPr lang="en-US" dirty="0"/>
              <a:t>Uses significantly less memory</a:t>
            </a:r>
          </a:p>
          <a:p>
            <a:pPr lvl="1"/>
            <a:r>
              <a:rPr lang="en-US" dirty="0"/>
              <a:t>However, might be much more difficult to implement new </a:t>
            </a:r>
            <a:r>
              <a:rPr lang="en-US" dirty="0" smtClean="0"/>
              <a:t>games</a:t>
            </a:r>
          </a:p>
          <a:p>
            <a:r>
              <a:rPr lang="en-US" dirty="0" smtClean="0"/>
              <a:t>Individual Game Engine</a:t>
            </a:r>
          </a:p>
          <a:p>
            <a:pPr lvl="1"/>
            <a:r>
              <a:rPr lang="en-US" dirty="0" smtClean="0"/>
              <a:t>Not binary compatible</a:t>
            </a:r>
          </a:p>
          <a:p>
            <a:pPr lvl="1"/>
            <a:r>
              <a:rPr lang="en-US" dirty="0" smtClean="0"/>
              <a:t>More stable per game</a:t>
            </a:r>
          </a:p>
          <a:p>
            <a:pPr lvl="1"/>
            <a:r>
              <a:rPr lang="en-US" dirty="0" smtClean="0"/>
              <a:t>Uses much more network traffic to download binaries</a:t>
            </a:r>
          </a:p>
          <a:p>
            <a:pPr lvl="1"/>
            <a:r>
              <a:rPr lang="en-US" dirty="0" smtClean="0"/>
              <a:t>Can use current game development environment</a:t>
            </a:r>
          </a:p>
          <a:p>
            <a:pPr lvl="1"/>
            <a:endParaRPr lang="en-US" dirty="0" smtClean="0"/>
          </a:p>
        </p:txBody>
      </p:sp>
      <p:graphicFrame>
        <p:nvGraphicFramePr>
          <p:cNvPr id="17" name="Object 16"/>
          <p:cNvGraphicFramePr>
            <a:graphicFrameLocks noGrp="1" noChangeAspect="1"/>
          </p:cNvGraphicFramePr>
          <p:nvPr>
            <p:extLst>
              <p:ext uri="{D42A27DB-BD31-4B8C-83A1-F6EECF244321}">
                <p14:modId xmlns:p14="http://schemas.microsoft.com/office/powerpoint/2010/main" val="1863238026"/>
              </p:ext>
            </p:extLst>
          </p:nvPr>
        </p:nvGraphicFramePr>
        <p:xfrm>
          <a:off x="457200" y="4114800"/>
          <a:ext cx="8228013" cy="1584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3" name="Worksheet" r:id="rId4" imgW="6134179" imgH="1181100" progId="Excel.Sheet.12">
                  <p:embed/>
                </p:oleObj>
              </mc:Choice>
              <mc:Fallback>
                <p:oleObj name="Worksheet" r:id="rId4" imgW="6134179" imgH="1181100" progId="Excel.Sheet.12">
                  <p:embed/>
                  <p:pic>
                    <p:nvPicPr>
                      <p:cNvPr id="0" name="Content Placeholder 8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7200" y="4114800"/>
                        <a:ext cx="8228013" cy="15843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6926584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Written in C# under .NET 4.5</a:t>
            </a:r>
          </a:p>
          <a:p>
            <a:r>
              <a:rPr lang="en-US" dirty="0" smtClean="0"/>
              <a:t>Windows server environment</a:t>
            </a:r>
          </a:p>
          <a:p>
            <a:pPr lvl="1"/>
            <a:r>
              <a:rPr lang="en-US" dirty="0" smtClean="0"/>
              <a:t>Portable to Azure</a:t>
            </a:r>
          </a:p>
          <a:p>
            <a:r>
              <a:rPr lang="en-US" dirty="0" smtClean="0"/>
              <a:t>SQL database</a:t>
            </a:r>
          </a:p>
          <a:p>
            <a:r>
              <a:rPr lang="en-US" dirty="0" smtClean="0"/>
              <a:t>Facilitates communication between clients</a:t>
            </a:r>
          </a:p>
          <a:p>
            <a:r>
              <a:rPr lang="en-US" dirty="0" smtClean="0"/>
              <a:t>Processes AI for virtual players</a:t>
            </a:r>
          </a:p>
          <a:p>
            <a:r>
              <a:rPr lang="en-US" dirty="0" smtClean="0"/>
              <a:t>Deploys game resources to client</a:t>
            </a:r>
          </a:p>
          <a:p>
            <a:r>
              <a:rPr lang="en-US" dirty="0" smtClean="0"/>
              <a:t>Manages logic for each multiplayer game instance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Design Analysis - Server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1777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000" y="1143000"/>
            <a:ext cx="6934200" cy="5185501"/>
          </a:xfr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Design Analysis - Server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08464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idx="1"/>
          </p:nvPr>
        </p:nvSpPr>
        <p:spPr>
          <a:xfrm>
            <a:off x="457200" y="1493837"/>
            <a:ext cx="8229600" cy="4525963"/>
          </a:xfrm>
        </p:spPr>
        <p:txBody>
          <a:bodyPr>
            <a:normAutofit lnSpcReduction="10000"/>
          </a:bodyPr>
          <a:lstStyle/>
          <a:p>
            <a:r>
              <a:rPr lang="en-US" dirty="0" smtClean="0"/>
              <a:t>Central server</a:t>
            </a:r>
          </a:p>
          <a:p>
            <a:pPr lvl="1"/>
            <a:r>
              <a:rPr lang="en-US" dirty="0" smtClean="0"/>
              <a:t>Hosts game files</a:t>
            </a:r>
          </a:p>
          <a:p>
            <a:pPr lvl="1"/>
            <a:r>
              <a:rPr lang="en-US" dirty="0" smtClean="0"/>
              <a:t>Connects  APMax units</a:t>
            </a:r>
          </a:p>
          <a:p>
            <a:r>
              <a:rPr lang="en-US" dirty="0" smtClean="0"/>
              <a:t>A.I. servers</a:t>
            </a:r>
          </a:p>
          <a:p>
            <a:pPr lvl="1"/>
            <a:r>
              <a:rPr lang="en-US" dirty="0" smtClean="0"/>
              <a:t>Optional – If one server</a:t>
            </a:r>
            <a:br>
              <a:rPr lang="en-US" dirty="0" smtClean="0"/>
            </a:br>
            <a:r>
              <a:rPr lang="en-US" dirty="0" smtClean="0"/>
              <a:t>can’t handle all game A.I.</a:t>
            </a:r>
          </a:p>
          <a:p>
            <a:r>
              <a:rPr lang="en-US" dirty="0" smtClean="0"/>
              <a:t>APMax</a:t>
            </a:r>
          </a:p>
          <a:p>
            <a:pPr lvl="1"/>
            <a:r>
              <a:rPr lang="en-US" dirty="0" smtClean="0"/>
              <a:t>Middleware</a:t>
            </a:r>
          </a:p>
          <a:p>
            <a:pPr lvl="1"/>
            <a:r>
              <a:rPr lang="en-US" dirty="0" smtClean="0"/>
              <a:t>Connects the server</a:t>
            </a:r>
            <a:br>
              <a:rPr lang="en-US" dirty="0" smtClean="0"/>
            </a:br>
            <a:r>
              <a:rPr lang="en-US" dirty="0" smtClean="0"/>
              <a:t>to each STB</a:t>
            </a:r>
          </a:p>
          <a:p>
            <a:r>
              <a:rPr lang="en-US" dirty="0" smtClean="0"/>
              <a:t>Client</a:t>
            </a:r>
          </a:p>
          <a:p>
            <a:pPr lvl="1"/>
            <a:r>
              <a:rPr lang="en-US" dirty="0" smtClean="0"/>
              <a:t>Set Top Box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Initial Architecture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8600" y="1828800"/>
            <a:ext cx="4747481" cy="4800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6" name="Straight Connector 5"/>
          <p:cNvCxnSpPr/>
          <p:nvPr/>
        </p:nvCxnSpPr>
        <p:spPr>
          <a:xfrm>
            <a:off x="3352800" y="1676400"/>
            <a:ext cx="2438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>
            <a:off x="5799364" y="1676400"/>
            <a:ext cx="0" cy="16002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5791200" y="3276600"/>
            <a:ext cx="372836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>
            <a:off x="2819400" y="2819400"/>
            <a:ext cx="2438400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2057400" y="3886200"/>
            <a:ext cx="2819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>
            <a:off x="4876800" y="3886200"/>
            <a:ext cx="0" cy="6858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>
            <a:off x="1905000" y="5334000"/>
            <a:ext cx="2286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>
            <a:off x="4191000" y="5334000"/>
            <a:ext cx="0" cy="5334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95991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Set Top Box</a:t>
            </a:r>
          </a:p>
          <a:p>
            <a:pPr lvl="1"/>
            <a:r>
              <a:rPr lang="en-US" dirty="0" smtClean="0"/>
              <a:t>Low memory</a:t>
            </a:r>
          </a:p>
          <a:p>
            <a:pPr lvl="1"/>
            <a:r>
              <a:rPr lang="en-US" dirty="0" smtClean="0"/>
              <a:t>Can’t use flash storage</a:t>
            </a:r>
          </a:p>
          <a:p>
            <a:pPr lvl="1"/>
            <a:r>
              <a:rPr lang="en-US" dirty="0" smtClean="0"/>
              <a:t>Low powered processor</a:t>
            </a:r>
          </a:p>
          <a:p>
            <a:pPr lvl="1"/>
            <a:r>
              <a:rPr lang="en-US" dirty="0" smtClean="0"/>
              <a:t>Limited bandwidth usage</a:t>
            </a:r>
          </a:p>
          <a:p>
            <a:r>
              <a:rPr lang="en-US" dirty="0" smtClean="0"/>
              <a:t>Server</a:t>
            </a:r>
          </a:p>
          <a:p>
            <a:pPr lvl="1"/>
            <a:r>
              <a:rPr lang="en-US" dirty="0" smtClean="0"/>
              <a:t>Needs to be scalable to 100s or 1000s of users simultaneously connected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Constraints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30077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STB firmware updates during development</a:t>
            </a:r>
          </a:p>
          <a:p>
            <a:pPr lvl="1"/>
            <a:r>
              <a:rPr lang="en-US" dirty="0" smtClean="0"/>
              <a:t>Previous project</a:t>
            </a:r>
          </a:p>
          <a:p>
            <a:pPr lvl="1"/>
            <a:r>
              <a:rPr lang="en-US" dirty="0" smtClean="0"/>
              <a:t>Should only affect UI engine on STB</a:t>
            </a:r>
          </a:p>
          <a:p>
            <a:pPr lvl="1"/>
            <a:r>
              <a:rPr lang="en-US" dirty="0" smtClean="0"/>
              <a:t>Contingency Plan</a:t>
            </a:r>
          </a:p>
          <a:p>
            <a:pPr lvl="2"/>
            <a:r>
              <a:rPr lang="en-US" dirty="0" smtClean="0"/>
              <a:t>Update the engine as soon as possible</a:t>
            </a:r>
          </a:p>
          <a:p>
            <a:r>
              <a:rPr lang="en-US" dirty="0" smtClean="0"/>
              <a:t>Changing the game development process</a:t>
            </a:r>
          </a:p>
          <a:p>
            <a:pPr lvl="1"/>
            <a:r>
              <a:rPr lang="en-US" dirty="0" smtClean="0"/>
              <a:t>Could increase game development time</a:t>
            </a:r>
          </a:p>
          <a:p>
            <a:pPr lvl="1"/>
            <a:r>
              <a:rPr lang="en-US" dirty="0" smtClean="0"/>
              <a:t>Might make debugging even more difficult</a:t>
            </a:r>
          </a:p>
          <a:p>
            <a:pPr lvl="1"/>
            <a:r>
              <a:rPr lang="en-US" dirty="0" smtClean="0"/>
              <a:t>Contingency Plan</a:t>
            </a:r>
          </a:p>
          <a:p>
            <a:pPr lvl="2"/>
            <a:r>
              <a:rPr lang="en-US" dirty="0" smtClean="0"/>
              <a:t>Build an error logger into the client engine</a:t>
            </a:r>
          </a:p>
          <a:p>
            <a:pPr lvl="2"/>
            <a:r>
              <a:rPr lang="en-US" dirty="0" smtClean="0"/>
              <a:t>Send crash reports to the server</a:t>
            </a:r>
          </a:p>
          <a:p>
            <a:pPr lvl="2"/>
            <a:r>
              <a:rPr lang="en-US" dirty="0" smtClean="0"/>
              <a:t>Port existing games to new model</a:t>
            </a: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Risks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26270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Sprint 1: </a:t>
            </a:r>
            <a:r>
              <a:rPr lang="en-US" sz="2400" dirty="0" smtClean="0"/>
              <a:t>September 19</a:t>
            </a:r>
            <a:r>
              <a:rPr lang="en-US" sz="2400" baseline="30000" dirty="0" smtClean="0"/>
              <a:t>th</a:t>
            </a:r>
            <a:r>
              <a:rPr lang="en-US" sz="2400" dirty="0" smtClean="0"/>
              <a:t> – October 3</a:t>
            </a:r>
            <a:r>
              <a:rPr lang="en-US" sz="2400" baseline="30000" dirty="0" smtClean="0"/>
              <a:t>rd</a:t>
            </a:r>
            <a:endParaRPr lang="en-US" sz="2400" dirty="0" smtClean="0"/>
          </a:p>
          <a:p>
            <a:pPr lvl="1"/>
            <a:r>
              <a:rPr lang="en-US" dirty="0" smtClean="0"/>
              <a:t>Deliverables</a:t>
            </a:r>
          </a:p>
          <a:p>
            <a:pPr lvl="2"/>
            <a:r>
              <a:rPr lang="en-US" dirty="0" smtClean="0"/>
              <a:t>Initial design document</a:t>
            </a:r>
          </a:p>
          <a:p>
            <a:pPr lvl="2"/>
            <a:r>
              <a:rPr lang="en-US" dirty="0" smtClean="0"/>
              <a:t>Initial requirements document</a:t>
            </a:r>
          </a:p>
          <a:p>
            <a:pPr lvl="1"/>
            <a:r>
              <a:rPr lang="en-US" dirty="0" smtClean="0"/>
              <a:t>Environment: Setup and Testing</a:t>
            </a:r>
          </a:p>
          <a:p>
            <a:pPr lvl="2"/>
            <a:r>
              <a:rPr lang="en-US" dirty="0" smtClean="0"/>
              <a:t>Meeting with STB team from Mitchell</a:t>
            </a:r>
          </a:p>
          <a:p>
            <a:pPr lvl="2"/>
            <a:r>
              <a:rPr lang="en-US" dirty="0" smtClean="0"/>
              <a:t>Information exchange</a:t>
            </a:r>
          </a:p>
          <a:p>
            <a:pPr lvl="1"/>
            <a:r>
              <a:rPr lang="en-US" dirty="0" smtClean="0"/>
              <a:t>Research</a:t>
            </a:r>
          </a:p>
          <a:p>
            <a:pPr lvl="2"/>
            <a:r>
              <a:rPr lang="en-US" dirty="0" smtClean="0"/>
              <a:t>Dynamically load views on STB</a:t>
            </a:r>
          </a:p>
          <a:p>
            <a:pPr lvl="2"/>
            <a:r>
              <a:rPr lang="en-US" dirty="0" smtClean="0"/>
              <a:t>Sending game state using Protocol Buffers</a:t>
            </a:r>
          </a:p>
          <a:p>
            <a:r>
              <a:rPr lang="en-US" dirty="0" smtClean="0"/>
              <a:t>Sprint 2: </a:t>
            </a:r>
            <a:r>
              <a:rPr lang="en-US" sz="2400" dirty="0" smtClean="0"/>
              <a:t>October 10</a:t>
            </a:r>
            <a:r>
              <a:rPr lang="en-US" sz="2400" baseline="30000" dirty="0" smtClean="0"/>
              <a:t>th</a:t>
            </a:r>
            <a:r>
              <a:rPr lang="en-US" sz="2400" dirty="0" smtClean="0"/>
              <a:t> – October 31</a:t>
            </a:r>
            <a:r>
              <a:rPr lang="en-US" sz="2400" baseline="30000" dirty="0" smtClean="0"/>
              <a:t>st</a:t>
            </a:r>
            <a:r>
              <a:rPr lang="en-US" sz="2400" dirty="0" smtClean="0"/>
              <a:t> </a:t>
            </a:r>
          </a:p>
          <a:p>
            <a:pPr lvl="1"/>
            <a:r>
              <a:rPr lang="en-US" dirty="0" smtClean="0"/>
              <a:t>Begin development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Sprints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61755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lvl="0"/>
            <a:r>
              <a:rPr lang="en-US" dirty="0" err="1"/>
              <a:t>CmdLink</a:t>
            </a:r>
            <a:r>
              <a:rPr lang="en-US" dirty="0"/>
              <a:t> Design and Integration</a:t>
            </a:r>
          </a:p>
          <a:p>
            <a:pPr lvl="0"/>
            <a:r>
              <a:rPr lang="en-US" dirty="0"/>
              <a:t>Server Plugin Interface</a:t>
            </a:r>
          </a:p>
          <a:p>
            <a:pPr lvl="0"/>
            <a:r>
              <a:rPr lang="en-US" dirty="0"/>
              <a:t>Research: Server operating systems</a:t>
            </a:r>
          </a:p>
          <a:p>
            <a:pPr lvl="0"/>
            <a:r>
              <a:rPr lang="en-US" dirty="0"/>
              <a:t>Research: Security for the server</a:t>
            </a:r>
          </a:p>
          <a:p>
            <a:pPr lvl="0"/>
            <a:r>
              <a:rPr lang="en-US" dirty="0"/>
              <a:t>Research: UDP </a:t>
            </a:r>
            <a:r>
              <a:rPr lang="en-US" dirty="0" err="1"/>
              <a:t>vs</a:t>
            </a:r>
            <a:r>
              <a:rPr lang="en-US" dirty="0"/>
              <a:t> TCP</a:t>
            </a:r>
          </a:p>
          <a:p>
            <a:pPr lvl="0"/>
            <a:r>
              <a:rPr lang="en-US" dirty="0"/>
              <a:t>Research QML</a:t>
            </a:r>
          </a:p>
          <a:p>
            <a:pPr lvl="0"/>
            <a:r>
              <a:rPr lang="en-US" dirty="0"/>
              <a:t>Server Tests</a:t>
            </a:r>
          </a:p>
          <a:p>
            <a:pPr lvl="0"/>
            <a:r>
              <a:rPr lang="en-US" dirty="0"/>
              <a:t>Server Logic</a:t>
            </a:r>
          </a:p>
          <a:p>
            <a:pPr lvl="0"/>
            <a:r>
              <a:rPr lang="en-US" dirty="0"/>
              <a:t>Server-Game p</a:t>
            </a:r>
            <a:r>
              <a:rPr lang="en-US" dirty="0" smtClean="0"/>
              <a:t>lug in </a:t>
            </a:r>
            <a:r>
              <a:rPr lang="en-US" dirty="0"/>
              <a:t>Interface</a:t>
            </a:r>
          </a:p>
          <a:p>
            <a:pPr lvl="0"/>
            <a:r>
              <a:rPr lang="en-US" dirty="0"/>
              <a:t>Server Communication</a:t>
            </a:r>
          </a:p>
          <a:p>
            <a:pPr lvl="0"/>
            <a:r>
              <a:rPr lang="en-US" dirty="0"/>
              <a:t>Prove out and implement </a:t>
            </a:r>
            <a:r>
              <a:rPr lang="en-US" dirty="0" err="1"/>
              <a:t>QUiLoader</a:t>
            </a:r>
            <a:endParaRPr lang="en-US" dirty="0"/>
          </a:p>
          <a:p>
            <a:pPr lvl="0"/>
            <a:r>
              <a:rPr lang="en-US" dirty="0" smtClean="0"/>
              <a:t>Build </a:t>
            </a:r>
            <a:r>
              <a:rPr lang="en-US" dirty="0"/>
              <a:t>Template STB GUI </a:t>
            </a:r>
          </a:p>
          <a:p>
            <a:pPr lvl="0"/>
            <a:r>
              <a:rPr lang="en-US" dirty="0"/>
              <a:t>Implement Virtual </a:t>
            </a:r>
            <a:r>
              <a:rPr lang="en-US" dirty="0" smtClean="0"/>
              <a:t>APMax</a:t>
            </a:r>
          </a:p>
          <a:p>
            <a:pPr lvl="0"/>
            <a:r>
              <a:rPr lang="en-US" dirty="0" smtClean="0"/>
              <a:t>Design </a:t>
            </a:r>
            <a:r>
              <a:rPr lang="en-US" dirty="0" err="1" smtClean="0"/>
              <a:t>CmdLink</a:t>
            </a:r>
            <a:r>
              <a:rPr lang="en-US" dirty="0" smtClean="0"/>
              <a:t> message formats</a:t>
            </a:r>
          </a:p>
          <a:p>
            <a:pPr lvl="0"/>
            <a:r>
              <a:rPr lang="en-US" dirty="0" smtClean="0"/>
              <a:t>Design Protocol Buffer message structure</a:t>
            </a: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Backlog Outline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92372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en-US" dirty="0" smtClean="0"/>
              <a:t>Questions?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22437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oncourse">
  <a:themeElements>
    <a:clrScheme name="Concourse">
      <a:dk1>
        <a:sysClr val="windowText" lastClr="000000"/>
      </a:dk1>
      <a:lt1>
        <a:sysClr val="window" lastClr="FFFFFF"/>
      </a:lt1>
      <a:dk2>
        <a:srgbClr val="464646"/>
      </a:dk2>
      <a:lt2>
        <a:srgbClr val="DEF5FA"/>
      </a:lt2>
      <a:accent1>
        <a:srgbClr val="2DA2BF"/>
      </a:accent1>
      <a:accent2>
        <a:srgbClr val="DA1F28"/>
      </a:accent2>
      <a:accent3>
        <a:srgbClr val="EB641B"/>
      </a:accent3>
      <a:accent4>
        <a:srgbClr val="39639D"/>
      </a:accent4>
      <a:accent5>
        <a:srgbClr val="474B78"/>
      </a:accent5>
      <a:accent6>
        <a:srgbClr val="7D3C4A"/>
      </a:accent6>
      <a:hlink>
        <a:srgbClr val="FF8119"/>
      </a:hlink>
      <a:folHlink>
        <a:srgbClr val="44B9E8"/>
      </a:folHlink>
    </a:clrScheme>
    <a:fontScheme name="Concourse">
      <a:maj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  <a:font script="Geor" typeface="Sylfaen"/>
      </a:majorFont>
      <a:min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  <a:font script="Geor" typeface="Sylfaen"/>
      </a:minorFont>
    </a:fontScheme>
    <a:fmtScheme name="Concours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55000" cap="flat" cmpd="thickThin" algn="ctr">
          <a:solidFill>
            <a:schemeClr val="phClr"/>
          </a:solidFill>
          <a:prstDash val="solid"/>
        </a:ln>
        <a:ln w="63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65000"/>
                <a:satMod val="300000"/>
              </a:schemeClr>
            </a:gs>
          </a:gsLst>
          <a:path path="circle">
            <a:fillToRect l="65000" b="98000"/>
          </a:path>
        </a:gradFill>
        <a:blipFill>
          <a:blip xmlns:r="http://schemas.openxmlformats.org/officeDocument/2006/relationships" r:embed="rId1">
            <a:duotone>
              <a:schemeClr val="phClr">
                <a:shade val="60000"/>
                <a:satMod val="110000"/>
              </a:schemeClr>
              <a:schemeClr val="phClr">
                <a:tint val="95000"/>
              </a:schemeClr>
            </a:duotone>
          </a:blip>
          <a:tile tx="0" ty="0" sx="50000" sy="5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427</TotalTime>
  <Words>647</Words>
  <Application>Microsoft Office PowerPoint</Application>
  <PresentationFormat>On-screen Show (4:3)</PresentationFormat>
  <Paragraphs>155</Paragraphs>
  <Slides>14</Slides>
  <Notes>13</Notes>
  <HiddenSlides>0</HiddenSlides>
  <MMClips>0</MMClips>
  <ScaleCrop>false</ScaleCrop>
  <HeadingPairs>
    <vt:vector size="6" baseType="variant"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6" baseType="lpstr">
      <vt:lpstr>Concourse</vt:lpstr>
      <vt:lpstr>Worksheet</vt:lpstr>
      <vt:lpstr>Set Top Box Multiplayer Framework</vt:lpstr>
      <vt:lpstr>Brief Overview and Project Goals</vt:lpstr>
      <vt:lpstr>Scope of Project</vt:lpstr>
      <vt:lpstr>User Stories</vt:lpstr>
      <vt:lpstr>Design Analysis – STB (client)</vt:lpstr>
      <vt:lpstr>Decision Matrix</vt:lpstr>
      <vt:lpstr>Design Analysis - Server</vt:lpstr>
      <vt:lpstr>Design Analysis - Server</vt:lpstr>
      <vt:lpstr>Initial Architecture</vt:lpstr>
      <vt:lpstr>Constraints</vt:lpstr>
      <vt:lpstr>Risks</vt:lpstr>
      <vt:lpstr>Sprints</vt:lpstr>
      <vt:lpstr>Backlog Outline</vt:lpstr>
      <vt:lpstr>Questions?</vt:lpstr>
    </vt:vector>
  </TitlesOfParts>
  <Company>Innovative Systems LLC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 Top Box Multiplayer Framework</dc:title>
  <dc:creator>Kevin Worner</dc:creator>
  <cp:lastModifiedBy>Kevin Worner</cp:lastModifiedBy>
  <cp:revision>176</cp:revision>
  <dcterms:created xsi:type="dcterms:W3CDTF">2012-10-06T20:11:31Z</dcterms:created>
  <dcterms:modified xsi:type="dcterms:W3CDTF">2012-10-08T21:07:46Z</dcterms:modified>
</cp:coreProperties>
</file>
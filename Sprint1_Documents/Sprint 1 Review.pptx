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9"/>
  </p:notesMasterIdLst>
  <p:sldIdLst>
    <p:sldId id="256" r:id="rId2"/>
    <p:sldId id="257" r:id="rId3"/>
    <p:sldId id="261" r:id="rId4"/>
    <p:sldId id="258" r:id="rId5"/>
    <p:sldId id="272" r:id="rId6"/>
    <p:sldId id="259" r:id="rId7"/>
    <p:sldId id="270" r:id="rId8"/>
    <p:sldId id="274" r:id="rId9"/>
    <p:sldId id="260" r:id="rId10"/>
    <p:sldId id="271" r:id="rId11"/>
    <p:sldId id="262" r:id="rId12"/>
    <p:sldId id="273" r:id="rId13"/>
    <p:sldId id="263" r:id="rId14"/>
    <p:sldId id="264" r:id="rId15"/>
    <p:sldId id="268" r:id="rId16"/>
    <p:sldId id="269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141" autoAdjust="0"/>
  </p:normalViewPr>
  <p:slideViewPr>
    <p:cSldViewPr>
      <p:cViewPr varScale="1">
        <p:scale>
          <a:sx n="117" d="100"/>
          <a:sy n="117" d="100"/>
        </p:scale>
        <p:origin x="-1464" y="-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B4DD35-6E11-43E5-91A4-D3C24AD61D59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96A064-7C2B-4BD1-B717-284E7E6AAF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960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(30</a:t>
            </a:r>
            <a:r>
              <a:rPr lang="en-US" baseline="0" dirty="0" smtClean="0"/>
              <a:t> seconds)</a:t>
            </a:r>
            <a:r>
              <a:rPr lang="en-US" dirty="0" smtClean="0"/>
              <a:t> Introduction – Marshall</a:t>
            </a:r>
            <a:r>
              <a:rPr lang="en-US" baseline="0" dirty="0" smtClean="0"/>
              <a:t> introduces the team, each person introduces </a:t>
            </a:r>
            <a:r>
              <a:rPr lang="en-US" baseline="0" dirty="0" smtClean="0"/>
              <a:t>themselves</a:t>
            </a:r>
          </a:p>
          <a:p>
            <a:r>
              <a:rPr lang="en-US" baseline="0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0297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Jarman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592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Scope – 30</a:t>
            </a:r>
            <a:r>
              <a:rPr lang="en-US" baseline="0" dirty="0" smtClean="0"/>
              <a:t> seconds</a:t>
            </a:r>
          </a:p>
          <a:p>
            <a:r>
              <a:rPr lang="en-US" baseline="0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592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User Stories</a:t>
            </a:r>
            <a:r>
              <a:rPr lang="en-US" baseline="0" dirty="0" smtClean="0"/>
              <a:t>: 1-2 minutes</a:t>
            </a:r>
            <a:endParaRPr lang="en-US" dirty="0" smtClean="0"/>
          </a:p>
          <a:p>
            <a:r>
              <a:rPr lang="en-US" dirty="0" smtClean="0"/>
              <a:t>Kevin</a:t>
            </a:r>
            <a:r>
              <a:rPr lang="en-US" baseline="0" dirty="0" smtClean="0"/>
              <a:t> </a:t>
            </a:r>
            <a:r>
              <a:rPr lang="en-US" baseline="0" dirty="0" smtClean="0"/>
              <a:t>– needs refinement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16840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2843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3879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4675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6151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+ 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9718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Kevin</a:t>
            </a:r>
            <a:endParaRPr lang="en-US" dirty="0" smtClean="0"/>
          </a:p>
          <a:p>
            <a:r>
              <a:rPr lang="en-US" dirty="0" smtClean="0"/>
              <a:t>Game</a:t>
            </a:r>
            <a:r>
              <a:rPr lang="en-US" baseline="0" dirty="0" smtClean="0"/>
              <a:t> Stats: for each game, show: total # played, total currently playing, date made (in)active, date imported</a:t>
            </a:r>
          </a:p>
          <a:p>
            <a:r>
              <a:rPr lang="en-US" baseline="0" dirty="0" smtClean="0"/>
              <a:t>Server Stats: Total uptime, Server version, total network traffic</a:t>
            </a:r>
          </a:p>
          <a:p>
            <a:r>
              <a:rPr lang="en-US" baseline="0" dirty="0" smtClean="0"/>
              <a:t>Error Log:</a:t>
            </a:r>
          </a:p>
          <a:p>
            <a:r>
              <a:rPr lang="en-US" baseline="0" dirty="0" smtClean="0"/>
              <a:t>Import login: brings up a file dialog so admin can browse to and add a game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9718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750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7762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7313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Risks, risk analysis, mitigation and contingency plan  (2 min)</a:t>
            </a:r>
          </a:p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4912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3457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Quickly</a:t>
            </a:r>
            <a:r>
              <a:rPr lang="en-US" baseline="0" dirty="0" smtClean="0"/>
              <a:t> </a:t>
            </a:r>
            <a:r>
              <a:rPr lang="en-US" baseline="0" dirty="0" smtClean="0"/>
              <a:t>show </a:t>
            </a:r>
            <a:r>
              <a:rPr lang="en-US" baseline="0" dirty="0" smtClean="0"/>
              <a:t>that we have a backlog, no need to go into great detail </a:t>
            </a:r>
            <a:r>
              <a:rPr lang="en-US" baseline="0" dirty="0" smtClean="0"/>
              <a:t>here</a:t>
            </a:r>
          </a:p>
          <a:p>
            <a:r>
              <a:rPr lang="en-US" baseline="0" dirty="0" smtClean="0"/>
              <a:t>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6302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Questions  (5 </a:t>
            </a:r>
            <a:r>
              <a:rPr 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mins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David,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Kevin, 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462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grpSp>
        <p:nvGrpSpPr>
          <p:cNvPr id="2" name="Group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evron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3.emf"/><Relationship Id="rId4" Type="http://schemas.openxmlformats.org/officeDocument/2006/relationships/package" Target="../embeddings/Microsoft_Excel_Worksheet1.xlsx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0775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Set Top Box</a:t>
            </a:r>
            <a:br>
              <a:rPr lang="en-US" dirty="0" smtClean="0"/>
            </a:br>
            <a:r>
              <a:rPr lang="en-US" dirty="0" smtClean="0"/>
              <a:t>Multiplayer Framework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581400"/>
            <a:ext cx="6934200" cy="2057400"/>
          </a:xfrm>
        </p:spPr>
        <p:txBody>
          <a:bodyPr/>
          <a:lstStyle/>
          <a:p>
            <a:r>
              <a:rPr lang="en-US" dirty="0" smtClean="0"/>
              <a:t>Team: Plugged-In</a:t>
            </a:r>
          </a:p>
          <a:p>
            <a:endParaRPr lang="en-US" dirty="0" smtClean="0"/>
          </a:p>
          <a:p>
            <a:r>
              <a:rPr lang="en-US" dirty="0" smtClean="0"/>
              <a:t>Sponsored by: Innovative Systems, L.L.C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1803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Create a server to host multiplayer game plugins</a:t>
            </a:r>
          </a:p>
          <a:p>
            <a:r>
              <a:rPr lang="en-US" dirty="0" smtClean="0"/>
              <a:t>Design a template game UI for STBs in an APMax environment</a:t>
            </a:r>
            <a:endParaRPr lang="en-US" dirty="0"/>
          </a:p>
          <a:p>
            <a:r>
              <a:rPr lang="en-US" dirty="0" smtClean="0"/>
              <a:t>Build a virtual APMax to simulate future communication protocols.</a:t>
            </a:r>
          </a:p>
          <a:p>
            <a:r>
              <a:rPr lang="en-US" dirty="0" smtClean="0"/>
              <a:t>Convert games to proof-of-concept multiplayer games.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Brief Overview and Project Goals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79680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Proof-of-concept</a:t>
            </a:r>
          </a:p>
          <a:p>
            <a:r>
              <a:rPr lang="en-US" dirty="0" smtClean="0"/>
              <a:t>In house</a:t>
            </a:r>
          </a:p>
          <a:p>
            <a:pPr lvl="1"/>
            <a:r>
              <a:rPr lang="en-US" dirty="0" smtClean="0"/>
              <a:t>Server and games environment will be privately hosted during development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Scope of Project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558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No STB software changes after initial release</a:t>
            </a:r>
          </a:p>
          <a:p>
            <a:r>
              <a:rPr lang="en-US" dirty="0" smtClean="0"/>
              <a:t>Client-server </a:t>
            </a:r>
            <a:r>
              <a:rPr lang="en-US" dirty="0" smtClean="0"/>
              <a:t>architecture to host and deliver “plug-in” games</a:t>
            </a:r>
          </a:p>
          <a:p>
            <a:r>
              <a:rPr lang="en-US" dirty="0" smtClean="0"/>
              <a:t>Player vs. Player, Player vs. AI, </a:t>
            </a:r>
            <a:r>
              <a:rPr lang="en-US" dirty="0"/>
              <a:t>s</a:t>
            </a:r>
            <a:r>
              <a:rPr lang="en-US" dirty="0" smtClean="0"/>
              <a:t>ingle </a:t>
            </a:r>
            <a:r>
              <a:rPr lang="en-US" dirty="0"/>
              <a:t>p</a:t>
            </a:r>
            <a:r>
              <a:rPr lang="en-US" dirty="0" smtClean="0"/>
              <a:t>layer</a:t>
            </a:r>
            <a:endParaRPr lang="en-US" dirty="0" smtClean="0"/>
          </a:p>
          <a:p>
            <a:r>
              <a:rPr lang="en-US" dirty="0" smtClean="0"/>
              <a:t>Server hosts game logic, STB host game UI</a:t>
            </a:r>
          </a:p>
          <a:p>
            <a:r>
              <a:rPr lang="en-US" dirty="0" smtClean="0"/>
              <a:t>Support 100s-1000s of users</a:t>
            </a:r>
          </a:p>
          <a:p>
            <a:r>
              <a:rPr lang="en-US" dirty="0" smtClean="0"/>
              <a:t>Secure communication between server and clients</a:t>
            </a:r>
          </a:p>
          <a:p>
            <a:r>
              <a:rPr lang="en-US" dirty="0" smtClean="0"/>
              <a:t>Full unit testing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User Stories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348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Current STB Framework</a:t>
            </a:r>
            <a:endParaRPr lang="en-US" dirty="0"/>
          </a:p>
        </p:txBody>
      </p:sp>
      <p:pic>
        <p:nvPicPr>
          <p:cNvPr id="2050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378" y="1371600"/>
            <a:ext cx="5371429" cy="43523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5638800" y="4267200"/>
            <a:ext cx="3048000" cy="1962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Symbol"/>
              <a:buChar char=""/>
            </a:pPr>
            <a:r>
              <a:rPr lang="en-US" sz="1600" dirty="0">
                <a:solidFill>
                  <a:srgbClr val="AAD957"/>
                </a:solidFill>
                <a:latin typeface="Calibri"/>
                <a:ea typeface="Calibri"/>
                <a:cs typeface="Times New Roman"/>
              </a:rPr>
              <a:t>Green – Game Plugin</a:t>
            </a:r>
            <a:endParaRPr lang="en-US" sz="1600" dirty="0">
              <a:solidFill>
                <a:srgbClr val="2F5897"/>
              </a:solidFill>
              <a:latin typeface="Calibri"/>
              <a:ea typeface="Calibri"/>
              <a:cs typeface="Times New Roman"/>
            </a:endParaRPr>
          </a:p>
          <a:p>
            <a:pPr marL="342900" marR="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Symbol"/>
              <a:buChar char=""/>
            </a:pPr>
            <a:r>
              <a:rPr lang="en-US" sz="1600" dirty="0">
                <a:solidFill>
                  <a:srgbClr val="9F5FCF"/>
                </a:solidFill>
                <a:latin typeface="Calibri"/>
                <a:ea typeface="Calibri"/>
                <a:cs typeface="Times New Roman"/>
              </a:rPr>
              <a:t>Purple – Game View</a:t>
            </a:r>
            <a:endParaRPr lang="en-US" sz="1600" dirty="0">
              <a:solidFill>
                <a:srgbClr val="2F5897"/>
              </a:solidFill>
              <a:latin typeface="Calibri"/>
              <a:ea typeface="Calibri"/>
              <a:cs typeface="Times New Roman"/>
            </a:endParaRPr>
          </a:p>
          <a:p>
            <a:pPr marL="342900" marR="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Symbol"/>
              <a:buChar char=""/>
            </a:pPr>
            <a:r>
              <a:rPr lang="en-US" sz="1600" dirty="0">
                <a:solidFill>
                  <a:srgbClr val="F0B47A"/>
                </a:solidFill>
                <a:latin typeface="Calibri"/>
                <a:ea typeface="Calibri"/>
                <a:cs typeface="Times New Roman"/>
              </a:rPr>
              <a:t>Orange – UI Objects</a:t>
            </a:r>
            <a:endParaRPr lang="en-US" sz="1600" dirty="0">
              <a:solidFill>
                <a:srgbClr val="2F5897"/>
              </a:solidFill>
              <a:latin typeface="Calibri"/>
              <a:ea typeface="Calibri"/>
              <a:cs typeface="Times New Roman"/>
            </a:endParaRPr>
          </a:p>
          <a:p>
            <a:pPr marL="342900" marR="0" lvl="0" indent="-342900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  <a:buFont typeface="Symbol"/>
              <a:buChar char=""/>
            </a:pPr>
            <a:r>
              <a:rPr lang="en-US" sz="1600" dirty="0">
                <a:solidFill>
                  <a:srgbClr val="7096D2"/>
                </a:solidFill>
                <a:latin typeface="Calibri"/>
                <a:ea typeface="Calibri"/>
                <a:cs typeface="Times New Roman"/>
              </a:rPr>
              <a:t>Blue – Data and Data Objects</a:t>
            </a:r>
            <a:endParaRPr lang="en-US" sz="1600" dirty="0">
              <a:solidFill>
                <a:srgbClr val="2F5897"/>
              </a:solidFill>
              <a:latin typeface="Calibri"/>
              <a:ea typeface="Calibri"/>
              <a:cs typeface="Times New Roman"/>
            </a:endParaRPr>
          </a:p>
          <a:p>
            <a:endParaRPr 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2133600" y="1219200"/>
            <a:ext cx="4114800" cy="228600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6248400" y="2057400"/>
            <a:ext cx="342900" cy="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91300" y="1295400"/>
            <a:ext cx="1981200" cy="2769989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Redesign</a:t>
            </a:r>
          </a:p>
          <a:p>
            <a:r>
              <a:rPr lang="en-US" sz="1600" dirty="0" smtClean="0">
                <a:solidFill>
                  <a:srgbClr val="92D050"/>
                </a:solidFill>
              </a:rPr>
              <a:t>Game Plugin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1000" dirty="0" smtClean="0"/>
              <a:t>Needs to contact Game Server for current list of games</a:t>
            </a:r>
          </a:p>
          <a:p>
            <a:r>
              <a:rPr lang="en-US" sz="1600" dirty="0" smtClean="0">
                <a:solidFill>
                  <a:srgbClr val="7030A0"/>
                </a:solidFill>
              </a:rPr>
              <a:t>Game View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1000" dirty="0" smtClean="0"/>
              <a:t>General Engine that will setup user’s selected game</a:t>
            </a:r>
          </a:p>
          <a:p>
            <a:r>
              <a:rPr lang="en-US" sz="1600" dirty="0" smtClean="0">
                <a:solidFill>
                  <a:srgbClr val="FFC000"/>
                </a:solidFill>
              </a:rPr>
              <a:t>Game Model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1000" dirty="0" smtClean="0"/>
              <a:t>Handles requested game information from server to set up multiplayer communication </a:t>
            </a:r>
            <a:endParaRPr lang="en-US" sz="1600" dirty="0" smtClean="0"/>
          </a:p>
        </p:txBody>
      </p:sp>
    </p:spTree>
    <p:extLst>
      <p:ext uri="{BB962C8B-B14F-4D97-AF65-F5344CB8AC3E}">
        <p14:creationId xmlns:p14="http://schemas.microsoft.com/office/powerpoint/2010/main" val="3696733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– STB (client)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Design #</a:t>
            </a:r>
            <a:r>
              <a:rPr lang="en-US" dirty="0"/>
              <a:t>1</a:t>
            </a:r>
          </a:p>
          <a:p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half" idx="3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Design </a:t>
            </a:r>
            <a:r>
              <a:rPr lang="en-US" dirty="0"/>
              <a:t>#2</a:t>
            </a:r>
          </a:p>
          <a:p>
            <a:endParaRPr lang="en-US" dirty="0"/>
          </a:p>
        </p:txBody>
      </p:sp>
      <p:sp>
        <p:nvSpPr>
          <p:cNvPr id="2" name="Content Placeholder 1"/>
          <p:cNvSpPr>
            <a:spLocks noGrp="1"/>
          </p:cNvSpPr>
          <p:nvPr>
            <p:ph sz="quarter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Base game framework</a:t>
            </a:r>
          </a:p>
          <a:p>
            <a:pPr lvl="1"/>
            <a:r>
              <a:rPr lang="en-US" dirty="0" smtClean="0"/>
              <a:t>Communications</a:t>
            </a:r>
          </a:p>
          <a:p>
            <a:pPr lvl="2"/>
            <a:r>
              <a:rPr lang="en-US" dirty="0" smtClean="0"/>
              <a:t>Command Link</a:t>
            </a:r>
          </a:p>
          <a:p>
            <a:pPr lvl="2"/>
            <a:r>
              <a:rPr lang="en-US" dirty="0" smtClean="0"/>
              <a:t>Protocol Buffers</a:t>
            </a:r>
          </a:p>
          <a:p>
            <a:pPr lvl="1"/>
            <a:r>
              <a:rPr lang="en-US" dirty="0" smtClean="0"/>
              <a:t>Two generic </a:t>
            </a:r>
            <a:r>
              <a:rPr lang="en-US" dirty="0" smtClean="0"/>
              <a:t>game UI engines</a:t>
            </a:r>
          </a:p>
          <a:p>
            <a:pPr lvl="2"/>
            <a:r>
              <a:rPr lang="en-US" dirty="0" smtClean="0"/>
              <a:t>Board games UI</a:t>
            </a:r>
          </a:p>
          <a:p>
            <a:pPr lvl="2"/>
            <a:r>
              <a:rPr lang="en-US" dirty="0" smtClean="0"/>
              <a:t>Card games </a:t>
            </a:r>
            <a:r>
              <a:rPr lang="en-US" dirty="0" smtClean="0"/>
              <a:t>UI</a:t>
            </a:r>
          </a:p>
          <a:p>
            <a:pPr lvl="1"/>
            <a:r>
              <a:rPr lang="en-US" dirty="0" smtClean="0"/>
              <a:t>Only uses gamestate to update UI</a:t>
            </a:r>
          </a:p>
          <a:p>
            <a:pPr lvl="1"/>
            <a:r>
              <a:rPr lang="en-US" dirty="0" smtClean="0"/>
              <a:t>No code sent over network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Per </a:t>
            </a:r>
            <a:r>
              <a:rPr lang="en-US" dirty="0"/>
              <a:t>game </a:t>
            </a:r>
            <a:r>
              <a:rPr lang="en-US" dirty="0" smtClean="0"/>
              <a:t>framework</a:t>
            </a:r>
            <a:endParaRPr lang="en-US" dirty="0"/>
          </a:p>
          <a:p>
            <a:pPr lvl="1"/>
            <a:r>
              <a:rPr lang="en-US" dirty="0"/>
              <a:t>Communications</a:t>
            </a:r>
          </a:p>
          <a:p>
            <a:pPr lvl="2"/>
            <a:r>
              <a:rPr lang="en-US" dirty="0"/>
              <a:t>Command Link</a:t>
            </a:r>
          </a:p>
          <a:p>
            <a:pPr lvl="2"/>
            <a:r>
              <a:rPr lang="en-US" dirty="0"/>
              <a:t>Protocol Buffers</a:t>
            </a:r>
          </a:p>
          <a:p>
            <a:pPr lvl="1"/>
            <a:r>
              <a:rPr lang="en-US" dirty="0" smtClean="0"/>
              <a:t>Each </a:t>
            </a:r>
            <a:r>
              <a:rPr lang="en-US" dirty="0"/>
              <a:t>game contains its own UI </a:t>
            </a:r>
            <a:r>
              <a:rPr lang="en-US" dirty="0" smtClean="0"/>
              <a:t>engine</a:t>
            </a:r>
          </a:p>
          <a:p>
            <a:pPr lvl="1"/>
            <a:r>
              <a:rPr lang="en-US" dirty="0" smtClean="0"/>
              <a:t>Sends a binary plugin to each STB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439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Decision Matrix</a:t>
            </a:r>
            <a:endParaRPr lang="en-US" dirty="0"/>
          </a:p>
        </p:txBody>
      </p:sp>
      <p:sp>
        <p:nvSpPr>
          <p:cNvPr id="16" name="Content Placeholder 15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2633471"/>
          </a:xfrm>
        </p:spPr>
        <p:txBody>
          <a:bodyPr>
            <a:normAutofit fontScale="70000" lnSpcReduction="20000"/>
          </a:bodyPr>
          <a:lstStyle/>
          <a:p>
            <a:r>
              <a:rPr lang="en-US" dirty="0" smtClean="0"/>
              <a:t>Single </a:t>
            </a:r>
            <a:r>
              <a:rPr lang="en-US" dirty="0"/>
              <a:t>UI Engine</a:t>
            </a:r>
          </a:p>
          <a:p>
            <a:pPr lvl="1"/>
            <a:r>
              <a:rPr lang="en-US" dirty="0" smtClean="0"/>
              <a:t>No binaries sent over the network</a:t>
            </a:r>
            <a:endParaRPr lang="en-US" dirty="0"/>
          </a:p>
          <a:p>
            <a:pPr lvl="1"/>
            <a:r>
              <a:rPr lang="en-US" dirty="0" smtClean="0"/>
              <a:t>Potentially less </a:t>
            </a:r>
            <a:r>
              <a:rPr lang="en-US" dirty="0"/>
              <a:t>stable, since it is generic</a:t>
            </a:r>
          </a:p>
          <a:p>
            <a:pPr lvl="1"/>
            <a:r>
              <a:rPr lang="en-US" dirty="0"/>
              <a:t>Uses significantly less memory</a:t>
            </a:r>
          </a:p>
          <a:p>
            <a:pPr lvl="1"/>
            <a:r>
              <a:rPr lang="en-US" dirty="0"/>
              <a:t>However, might be much more difficult to implement new </a:t>
            </a:r>
            <a:r>
              <a:rPr lang="en-US" dirty="0" smtClean="0"/>
              <a:t>games</a:t>
            </a:r>
          </a:p>
          <a:p>
            <a:r>
              <a:rPr lang="en-US" dirty="0" smtClean="0"/>
              <a:t>Individual Game Engine</a:t>
            </a:r>
          </a:p>
          <a:p>
            <a:pPr lvl="1"/>
            <a:r>
              <a:rPr lang="en-US" dirty="0" smtClean="0"/>
              <a:t>Not binary compatible</a:t>
            </a:r>
          </a:p>
          <a:p>
            <a:pPr lvl="1"/>
            <a:r>
              <a:rPr lang="en-US" dirty="0" smtClean="0"/>
              <a:t>Ideally m</a:t>
            </a:r>
            <a:r>
              <a:rPr lang="en-US" dirty="0" smtClean="0"/>
              <a:t>ore </a:t>
            </a:r>
            <a:r>
              <a:rPr lang="en-US" dirty="0" smtClean="0"/>
              <a:t>stable per game</a:t>
            </a:r>
          </a:p>
          <a:p>
            <a:pPr lvl="1"/>
            <a:r>
              <a:rPr lang="en-US" dirty="0" smtClean="0"/>
              <a:t>Uses much more network traffic to download binaries</a:t>
            </a:r>
          </a:p>
          <a:p>
            <a:pPr lvl="1"/>
            <a:r>
              <a:rPr lang="en-US" dirty="0" smtClean="0"/>
              <a:t>Can use current game development environment</a:t>
            </a:r>
          </a:p>
          <a:p>
            <a:pPr lvl="1"/>
            <a:endParaRPr lang="en-US" dirty="0" smtClean="0"/>
          </a:p>
        </p:txBody>
      </p:sp>
      <p:graphicFrame>
        <p:nvGraphicFramePr>
          <p:cNvPr id="17" name="Object 16"/>
          <p:cNvGraphicFramePr>
            <a:graphicFrameLocks noGrp="1" noChangeAspect="1"/>
          </p:cNvGraphicFramePr>
          <p:nvPr>
            <p:extLst>
              <p:ext uri="{D42A27DB-BD31-4B8C-83A1-F6EECF244321}">
                <p14:modId xmlns:p14="http://schemas.microsoft.com/office/powerpoint/2010/main" val="3613842038"/>
              </p:ext>
            </p:extLst>
          </p:nvPr>
        </p:nvGraphicFramePr>
        <p:xfrm>
          <a:off x="457200" y="4114800"/>
          <a:ext cx="8228013" cy="158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4" name="Worksheet" r:id="rId4" imgW="6134179" imgH="1181100" progId="Excel.Sheet.12">
                  <p:embed/>
                </p:oleObj>
              </mc:Choice>
              <mc:Fallback>
                <p:oleObj name="Worksheet" r:id="rId4" imgW="6134179" imgH="1181100" progId="Excel.Sheet.12">
                  <p:embed/>
                  <p:pic>
                    <p:nvPicPr>
                      <p:cNvPr id="0" name="Content Placeholder 8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" y="4114800"/>
                        <a:ext cx="8228013" cy="1584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92658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STB Prototype Video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636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Written in C# under .NET 4.5</a:t>
            </a:r>
          </a:p>
          <a:p>
            <a:r>
              <a:rPr lang="en-US" dirty="0" smtClean="0"/>
              <a:t>Windows server environment</a:t>
            </a:r>
          </a:p>
          <a:p>
            <a:pPr lvl="1"/>
            <a:r>
              <a:rPr lang="en-US" dirty="0" smtClean="0"/>
              <a:t>Portable to Azure</a:t>
            </a:r>
          </a:p>
          <a:p>
            <a:r>
              <a:rPr lang="en-US" dirty="0" smtClean="0"/>
              <a:t>SQL database</a:t>
            </a:r>
          </a:p>
          <a:p>
            <a:r>
              <a:rPr lang="en-US" dirty="0" smtClean="0"/>
              <a:t>Facilitates communication between clients</a:t>
            </a:r>
          </a:p>
          <a:p>
            <a:r>
              <a:rPr lang="en-US" dirty="0" smtClean="0"/>
              <a:t>Processes AI for virtual players</a:t>
            </a:r>
          </a:p>
          <a:p>
            <a:r>
              <a:rPr lang="en-US" dirty="0" smtClean="0"/>
              <a:t>Deploys game resources to client</a:t>
            </a:r>
          </a:p>
          <a:p>
            <a:r>
              <a:rPr lang="en-US" dirty="0" smtClean="0"/>
              <a:t>Manages logic for each multiplayer game </a:t>
            </a:r>
            <a:r>
              <a:rPr lang="en-US" dirty="0" smtClean="0"/>
              <a:t>instance</a:t>
            </a:r>
          </a:p>
          <a:p>
            <a:r>
              <a:rPr lang="en-US" dirty="0" smtClean="0"/>
              <a:t>Error Log to view game crash reports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- Server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777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1143000"/>
            <a:ext cx="6934200" cy="5185501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- Server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0846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457200" y="1493837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 smtClean="0"/>
              <a:t>Central server</a:t>
            </a:r>
          </a:p>
          <a:p>
            <a:pPr lvl="1"/>
            <a:r>
              <a:rPr lang="en-US" dirty="0" smtClean="0"/>
              <a:t>Hosts game files</a:t>
            </a:r>
          </a:p>
          <a:p>
            <a:pPr lvl="1"/>
            <a:r>
              <a:rPr lang="en-US" dirty="0" smtClean="0"/>
              <a:t>Connects </a:t>
            </a:r>
            <a:r>
              <a:rPr lang="en-US" dirty="0" smtClean="0"/>
              <a:t>APMax units</a:t>
            </a:r>
          </a:p>
          <a:p>
            <a:r>
              <a:rPr lang="en-US" dirty="0" smtClean="0"/>
              <a:t>A.I. servers</a:t>
            </a:r>
          </a:p>
          <a:p>
            <a:pPr lvl="1"/>
            <a:r>
              <a:rPr lang="en-US" dirty="0" smtClean="0"/>
              <a:t>Optional – If </a:t>
            </a:r>
            <a:r>
              <a:rPr lang="en-US" dirty="0" smtClean="0"/>
              <a:t>the </a:t>
            </a:r>
            <a:br>
              <a:rPr lang="en-US" dirty="0" smtClean="0"/>
            </a:br>
            <a:r>
              <a:rPr lang="en-US" dirty="0" smtClean="0"/>
              <a:t>central server</a:t>
            </a:r>
            <a:r>
              <a:rPr lang="en-US" dirty="0" smtClean="0"/>
              <a:t> </a:t>
            </a:r>
            <a:r>
              <a:rPr lang="en-US" dirty="0" smtClean="0"/>
              <a:t>can’t</a:t>
            </a:r>
            <a:br>
              <a:rPr lang="en-US" dirty="0" smtClean="0"/>
            </a:br>
            <a:r>
              <a:rPr lang="en-US" dirty="0" smtClean="0"/>
              <a:t>handle all game </a:t>
            </a:r>
            <a:r>
              <a:rPr lang="en-US" dirty="0" smtClean="0"/>
              <a:t>A.I.</a:t>
            </a:r>
          </a:p>
          <a:p>
            <a:r>
              <a:rPr lang="en-US" dirty="0" smtClean="0"/>
              <a:t>APMax</a:t>
            </a:r>
          </a:p>
          <a:p>
            <a:pPr lvl="1"/>
            <a:r>
              <a:rPr lang="en-US" dirty="0" smtClean="0"/>
              <a:t>Middleware</a:t>
            </a:r>
          </a:p>
          <a:p>
            <a:pPr lvl="1"/>
            <a:r>
              <a:rPr lang="en-US" dirty="0" smtClean="0"/>
              <a:t>Connects the server</a:t>
            </a:r>
            <a:br>
              <a:rPr lang="en-US" dirty="0" smtClean="0"/>
            </a:br>
            <a:r>
              <a:rPr lang="en-US" dirty="0" smtClean="0"/>
              <a:t>to each STB</a:t>
            </a:r>
          </a:p>
          <a:p>
            <a:r>
              <a:rPr lang="en-US" dirty="0" smtClean="0"/>
              <a:t>Client</a:t>
            </a:r>
          </a:p>
          <a:p>
            <a:pPr lvl="1"/>
            <a:r>
              <a:rPr lang="en-US" dirty="0" smtClean="0"/>
              <a:t>Set Top Box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Initial Architecture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1828800"/>
            <a:ext cx="4747481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6" name="Straight Connector 5"/>
          <p:cNvCxnSpPr/>
          <p:nvPr/>
        </p:nvCxnSpPr>
        <p:spPr>
          <a:xfrm>
            <a:off x="3352800" y="1676400"/>
            <a:ext cx="2438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5799364" y="1676400"/>
            <a:ext cx="0" cy="1600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5791200" y="3276600"/>
            <a:ext cx="37283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2819400" y="2819400"/>
            <a:ext cx="2438400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2057400" y="4038600"/>
            <a:ext cx="2819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4876800" y="4038600"/>
            <a:ext cx="0" cy="5334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1905000" y="5334000"/>
            <a:ext cx="2286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4191000" y="5334000"/>
            <a:ext cx="0" cy="5334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9599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Full unit testing</a:t>
            </a:r>
          </a:p>
          <a:p>
            <a:pPr lvl="1"/>
            <a:r>
              <a:rPr lang="en-US" dirty="0" smtClean="0"/>
              <a:t>Testing Server and STB code</a:t>
            </a:r>
          </a:p>
          <a:p>
            <a:r>
              <a:rPr lang="en-US" dirty="0" smtClean="0"/>
              <a:t>Create a virtual APMax</a:t>
            </a:r>
          </a:p>
          <a:p>
            <a:pPr lvl="1"/>
            <a:r>
              <a:rPr lang="en-US" dirty="0" smtClean="0"/>
              <a:t>Used to simulate communication between STB and server</a:t>
            </a:r>
          </a:p>
          <a:p>
            <a:pPr lvl="1"/>
            <a:r>
              <a:rPr lang="en-US" dirty="0" smtClean="0"/>
              <a:t>Test new CommandLink messages before going into production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Testing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6840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Set Top Box</a:t>
            </a:r>
          </a:p>
          <a:p>
            <a:pPr lvl="1"/>
            <a:r>
              <a:rPr lang="en-US" dirty="0" smtClean="0"/>
              <a:t>Low </a:t>
            </a:r>
            <a:r>
              <a:rPr lang="en-US" dirty="0" smtClean="0"/>
              <a:t>memory (128MB total, </a:t>
            </a:r>
            <a:r>
              <a:rPr lang="en-US" smtClean="0"/>
              <a:t>7MB working)</a:t>
            </a:r>
            <a:endParaRPr lang="en-US" dirty="0" smtClean="0"/>
          </a:p>
          <a:p>
            <a:pPr lvl="1"/>
            <a:r>
              <a:rPr lang="en-US" dirty="0" smtClean="0"/>
              <a:t>Can’t use flash storage</a:t>
            </a:r>
          </a:p>
          <a:p>
            <a:pPr lvl="1"/>
            <a:r>
              <a:rPr lang="en-US" dirty="0" smtClean="0"/>
              <a:t>Low powered </a:t>
            </a:r>
            <a:r>
              <a:rPr lang="en-US" dirty="0" smtClean="0"/>
              <a:t>processor (800Mhz)</a:t>
            </a:r>
            <a:endParaRPr lang="en-US" dirty="0" smtClean="0"/>
          </a:p>
          <a:p>
            <a:pPr lvl="1"/>
            <a:r>
              <a:rPr lang="en-US" dirty="0" smtClean="0"/>
              <a:t>Limited bandwidth usage</a:t>
            </a:r>
          </a:p>
          <a:p>
            <a:r>
              <a:rPr lang="en-US" dirty="0" smtClean="0"/>
              <a:t>Server</a:t>
            </a:r>
          </a:p>
          <a:p>
            <a:pPr lvl="1"/>
            <a:r>
              <a:rPr lang="en-US" dirty="0" smtClean="0"/>
              <a:t>Needs to be scalable to 100s or 1000s of users simultaneously connected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Constraints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007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STB firmware updates during development</a:t>
            </a:r>
          </a:p>
          <a:p>
            <a:pPr lvl="1"/>
            <a:r>
              <a:rPr lang="en-US" dirty="0" smtClean="0"/>
              <a:t>Previous project</a:t>
            </a:r>
          </a:p>
          <a:p>
            <a:pPr lvl="1"/>
            <a:r>
              <a:rPr lang="en-US" dirty="0" smtClean="0"/>
              <a:t>Should only affect UI engine on STB</a:t>
            </a:r>
          </a:p>
          <a:p>
            <a:pPr lvl="1"/>
            <a:r>
              <a:rPr lang="en-US" dirty="0" smtClean="0"/>
              <a:t>Contingency Plan</a:t>
            </a:r>
          </a:p>
          <a:p>
            <a:pPr lvl="2"/>
            <a:r>
              <a:rPr lang="en-US" dirty="0" smtClean="0"/>
              <a:t>Update the engine as soon as possible</a:t>
            </a:r>
          </a:p>
          <a:p>
            <a:r>
              <a:rPr lang="en-US" dirty="0" smtClean="0"/>
              <a:t>Changing the game development process</a:t>
            </a:r>
          </a:p>
          <a:p>
            <a:pPr lvl="1"/>
            <a:r>
              <a:rPr lang="en-US" dirty="0" smtClean="0"/>
              <a:t>Could increase game development time</a:t>
            </a:r>
          </a:p>
          <a:p>
            <a:pPr lvl="1"/>
            <a:r>
              <a:rPr lang="en-US" dirty="0" smtClean="0"/>
              <a:t>Might make debugging even more difficult</a:t>
            </a:r>
          </a:p>
          <a:p>
            <a:pPr lvl="1"/>
            <a:r>
              <a:rPr lang="en-US" dirty="0" smtClean="0"/>
              <a:t>Contingency Plan</a:t>
            </a:r>
          </a:p>
          <a:p>
            <a:pPr lvl="2"/>
            <a:r>
              <a:rPr lang="en-US" dirty="0" smtClean="0"/>
              <a:t>Build an error logger into the client engine</a:t>
            </a:r>
          </a:p>
          <a:p>
            <a:pPr lvl="2"/>
            <a:r>
              <a:rPr lang="en-US" dirty="0" smtClean="0"/>
              <a:t>Send crash reports to the </a:t>
            </a:r>
            <a:r>
              <a:rPr lang="en-US" dirty="0" smtClean="0"/>
              <a:t>server</a:t>
            </a:r>
            <a:endParaRPr lang="en-US" dirty="0" smtClean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Risks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6270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Sprint 1: </a:t>
            </a:r>
            <a:r>
              <a:rPr lang="en-US" sz="2400" dirty="0" smtClean="0"/>
              <a:t>September 19</a:t>
            </a:r>
            <a:r>
              <a:rPr lang="en-US" sz="2400" baseline="30000" dirty="0" smtClean="0"/>
              <a:t>th</a:t>
            </a:r>
            <a:r>
              <a:rPr lang="en-US" sz="2400" dirty="0" smtClean="0"/>
              <a:t> – October 3</a:t>
            </a:r>
            <a:r>
              <a:rPr lang="en-US" sz="2400" baseline="30000" dirty="0" smtClean="0"/>
              <a:t>rd</a:t>
            </a:r>
            <a:endParaRPr lang="en-US" sz="2400" dirty="0" smtClean="0"/>
          </a:p>
          <a:p>
            <a:pPr lvl="1"/>
            <a:r>
              <a:rPr lang="en-US" dirty="0" smtClean="0"/>
              <a:t>Deliverables</a:t>
            </a:r>
          </a:p>
          <a:p>
            <a:pPr lvl="2"/>
            <a:r>
              <a:rPr lang="en-US" dirty="0" smtClean="0"/>
              <a:t>Initial design document</a:t>
            </a:r>
          </a:p>
          <a:p>
            <a:pPr lvl="2"/>
            <a:r>
              <a:rPr lang="en-US" dirty="0" smtClean="0"/>
              <a:t>Initial requirements document</a:t>
            </a:r>
          </a:p>
          <a:p>
            <a:pPr lvl="1"/>
            <a:r>
              <a:rPr lang="en-US" dirty="0" smtClean="0"/>
              <a:t>Environment: Setup and Testing</a:t>
            </a:r>
          </a:p>
          <a:p>
            <a:pPr lvl="2"/>
            <a:r>
              <a:rPr lang="en-US" dirty="0" smtClean="0"/>
              <a:t>Meeting with STB team from Mitchell</a:t>
            </a:r>
          </a:p>
          <a:p>
            <a:pPr lvl="2"/>
            <a:r>
              <a:rPr lang="en-US" dirty="0" smtClean="0"/>
              <a:t>Information exchange</a:t>
            </a:r>
          </a:p>
          <a:p>
            <a:pPr lvl="1"/>
            <a:r>
              <a:rPr lang="en-US" dirty="0" smtClean="0"/>
              <a:t>Research</a:t>
            </a:r>
          </a:p>
          <a:p>
            <a:pPr lvl="2"/>
            <a:r>
              <a:rPr lang="en-US" dirty="0" smtClean="0"/>
              <a:t>Dynamically load views on STB</a:t>
            </a:r>
          </a:p>
          <a:p>
            <a:pPr lvl="2"/>
            <a:r>
              <a:rPr lang="en-US" dirty="0" smtClean="0"/>
              <a:t>Sending game state using Protocol Buffers</a:t>
            </a:r>
          </a:p>
          <a:p>
            <a:r>
              <a:rPr lang="en-US" dirty="0" smtClean="0"/>
              <a:t>Sprint 2: </a:t>
            </a:r>
            <a:r>
              <a:rPr lang="en-US" sz="2400" dirty="0" smtClean="0"/>
              <a:t>October 10</a:t>
            </a:r>
            <a:r>
              <a:rPr lang="en-US" sz="2400" baseline="30000" dirty="0" smtClean="0"/>
              <a:t>th</a:t>
            </a:r>
            <a:r>
              <a:rPr lang="en-US" sz="2400" dirty="0" smtClean="0"/>
              <a:t> – October 31</a:t>
            </a:r>
            <a:r>
              <a:rPr lang="en-US" sz="2400" baseline="30000" dirty="0" smtClean="0"/>
              <a:t>st</a:t>
            </a:r>
            <a:r>
              <a:rPr lang="en-US" sz="2400" dirty="0" smtClean="0"/>
              <a:t> </a:t>
            </a:r>
          </a:p>
          <a:p>
            <a:pPr lvl="1"/>
            <a:r>
              <a:rPr lang="en-US" dirty="0" smtClean="0"/>
              <a:t>Initial </a:t>
            </a:r>
            <a:r>
              <a:rPr lang="en-US" dirty="0" smtClean="0"/>
              <a:t>development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Sprints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175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/>
            <a:r>
              <a:rPr lang="en-US" dirty="0" err="1"/>
              <a:t>CmdLink</a:t>
            </a:r>
            <a:r>
              <a:rPr lang="en-US" dirty="0"/>
              <a:t> Design and Integration</a:t>
            </a:r>
          </a:p>
          <a:p>
            <a:pPr lvl="0"/>
            <a:r>
              <a:rPr lang="en-US" dirty="0"/>
              <a:t>Server Plugin Interface</a:t>
            </a:r>
          </a:p>
          <a:p>
            <a:pPr lvl="0"/>
            <a:r>
              <a:rPr lang="en-US" dirty="0"/>
              <a:t>Research: Server operating systems</a:t>
            </a:r>
          </a:p>
          <a:p>
            <a:pPr lvl="0"/>
            <a:r>
              <a:rPr lang="en-US" dirty="0"/>
              <a:t>Research: Security for the server</a:t>
            </a:r>
          </a:p>
          <a:p>
            <a:pPr lvl="0"/>
            <a:r>
              <a:rPr lang="en-US" dirty="0"/>
              <a:t>Research: UDP </a:t>
            </a:r>
            <a:r>
              <a:rPr lang="en-US" dirty="0" err="1"/>
              <a:t>vs</a:t>
            </a:r>
            <a:r>
              <a:rPr lang="en-US" dirty="0"/>
              <a:t> TCP</a:t>
            </a:r>
          </a:p>
          <a:p>
            <a:pPr lvl="0"/>
            <a:r>
              <a:rPr lang="en-US" dirty="0"/>
              <a:t>Research QML</a:t>
            </a:r>
          </a:p>
          <a:p>
            <a:pPr lvl="0"/>
            <a:r>
              <a:rPr lang="en-US" dirty="0"/>
              <a:t>Server Tests</a:t>
            </a:r>
          </a:p>
          <a:p>
            <a:pPr lvl="0"/>
            <a:r>
              <a:rPr lang="en-US" dirty="0"/>
              <a:t>Server Logic</a:t>
            </a:r>
          </a:p>
          <a:p>
            <a:pPr lvl="0"/>
            <a:r>
              <a:rPr lang="en-US" dirty="0"/>
              <a:t>Server-Game p</a:t>
            </a:r>
            <a:r>
              <a:rPr lang="en-US" dirty="0" smtClean="0"/>
              <a:t>lug in </a:t>
            </a:r>
            <a:r>
              <a:rPr lang="en-US" dirty="0"/>
              <a:t>Interface</a:t>
            </a:r>
          </a:p>
          <a:p>
            <a:pPr lvl="0"/>
            <a:r>
              <a:rPr lang="en-US" dirty="0"/>
              <a:t>Server Communication</a:t>
            </a:r>
          </a:p>
          <a:p>
            <a:pPr lvl="0"/>
            <a:r>
              <a:rPr lang="en-US" dirty="0"/>
              <a:t>Prove out and implement </a:t>
            </a:r>
            <a:r>
              <a:rPr lang="en-US" dirty="0" err="1"/>
              <a:t>QUiLoader</a:t>
            </a:r>
            <a:endParaRPr lang="en-US" dirty="0"/>
          </a:p>
          <a:p>
            <a:pPr lvl="0"/>
            <a:r>
              <a:rPr lang="en-US" dirty="0" smtClean="0"/>
              <a:t>Build </a:t>
            </a:r>
            <a:r>
              <a:rPr lang="en-US" dirty="0"/>
              <a:t>Template STB GUI </a:t>
            </a:r>
          </a:p>
          <a:p>
            <a:pPr lvl="0"/>
            <a:r>
              <a:rPr lang="en-US" dirty="0"/>
              <a:t>Implement Virtual </a:t>
            </a:r>
            <a:r>
              <a:rPr lang="en-US" dirty="0" smtClean="0"/>
              <a:t>APMax</a:t>
            </a:r>
          </a:p>
          <a:p>
            <a:pPr lvl="0"/>
            <a:r>
              <a:rPr lang="en-US" dirty="0" smtClean="0"/>
              <a:t>Design </a:t>
            </a:r>
            <a:r>
              <a:rPr lang="en-US" dirty="0" err="1" smtClean="0"/>
              <a:t>CmdLink</a:t>
            </a:r>
            <a:r>
              <a:rPr lang="en-US" dirty="0" smtClean="0"/>
              <a:t> message formats</a:t>
            </a:r>
          </a:p>
          <a:p>
            <a:pPr lvl="0"/>
            <a:r>
              <a:rPr lang="en-US" dirty="0" smtClean="0"/>
              <a:t>Design Protocol Buffer message structure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Backlog Outline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237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dirty="0" smtClean="0"/>
              <a:t>Questions?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43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504</TotalTime>
  <Words>757</Words>
  <Application>Microsoft Office PowerPoint</Application>
  <PresentationFormat>On-screen Show (4:3)</PresentationFormat>
  <Paragraphs>187</Paragraphs>
  <Slides>17</Slides>
  <Notes>17</Notes>
  <HiddenSlides>0</HiddenSlides>
  <MMClips>0</MMClips>
  <ScaleCrop>false</ScaleCrop>
  <HeadingPairs>
    <vt:vector size="6" baseType="variant"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Concourse</vt:lpstr>
      <vt:lpstr>Microsoft Excel Worksheet</vt:lpstr>
      <vt:lpstr>Set Top Box Multiplayer Framework</vt:lpstr>
      <vt:lpstr>Brief Overview and Project Goals</vt:lpstr>
      <vt:lpstr>Scope of Project</vt:lpstr>
      <vt:lpstr>User Stories</vt:lpstr>
      <vt:lpstr>Current STB Framework</vt:lpstr>
      <vt:lpstr>Design Analysis – STB (client)</vt:lpstr>
      <vt:lpstr>Decision Matrix</vt:lpstr>
      <vt:lpstr>STB Prototype Video</vt:lpstr>
      <vt:lpstr>Design Analysis - Server</vt:lpstr>
      <vt:lpstr>Design Analysis - Server</vt:lpstr>
      <vt:lpstr>Initial Architecture</vt:lpstr>
      <vt:lpstr>Testing</vt:lpstr>
      <vt:lpstr>Constraints</vt:lpstr>
      <vt:lpstr>Risks</vt:lpstr>
      <vt:lpstr>Sprints</vt:lpstr>
      <vt:lpstr>Backlog Outline</vt:lpstr>
      <vt:lpstr>Questions?</vt:lpstr>
    </vt:vector>
  </TitlesOfParts>
  <Company>Innovative Systems LLC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 Top Box Multiplayer Framework</dc:title>
  <dc:creator>Kevin Worner</dc:creator>
  <cp:lastModifiedBy>David Jarman</cp:lastModifiedBy>
  <cp:revision>215</cp:revision>
  <dcterms:created xsi:type="dcterms:W3CDTF">2012-10-06T20:11:31Z</dcterms:created>
  <dcterms:modified xsi:type="dcterms:W3CDTF">2012-10-08T22:38:20Z</dcterms:modified>
</cp:coreProperties>
</file>